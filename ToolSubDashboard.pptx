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80" r:id="rId6"/>
    <p:sldId id="261" r:id="rId7"/>
    <p:sldId id="262" r:id="rId8"/>
    <p:sldId id="282" r:id="rId9"/>
    <p:sldId id="281" r:id="rId10"/>
    <p:sldId id="285" r:id="rId11"/>
    <p:sldId id="283" r:id="rId12"/>
    <p:sldId id="260" r:id="rId13"/>
    <p:sldId id="286" r:id="rId14"/>
    <p:sldId id="288" r:id="rId15"/>
    <p:sldId id="287" r:id="rId16"/>
    <p:sldId id="263" r:id="rId17"/>
    <p:sldId id="27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CBD5D9-EF87-7A6A-F496-7CA8000A0BEC}" v="215" dt="2026-03-27T19:02:30.003"/>
    <p1510:client id="{E01DAE69-1901-068C-40B8-6786728F26A5}" v="2002" dt="2026-03-28T05:46:15.706"/>
    <p1510:client id="{E8EEEFEB-B1D9-6374-C48C-520D9A512DB2}" v="18" dt="2026-03-26T08:52:03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43" y="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00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9F5B3-E501-CE40-5EB1-D44344AC3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6FC0C-0472-5304-5A21-95AF8E86A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43E12-A1E3-5AFF-53DC-C0EA67F47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394F1-4480-14A7-CCEC-2D17C1BBF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15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C0421-FC09-236F-1030-9056F74C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D5B6A-85C9-2DE0-E9C8-FE50B8C9F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CBEA9-DA19-0CBA-9C7F-840D1AA43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B782A-50FB-66E4-AE1E-D96C8FEAD9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798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292" y="559081"/>
            <a:ext cx="6099170" cy="2669894"/>
          </a:xfrm>
        </p:spPr>
        <p:txBody>
          <a:bodyPr anchor="t">
            <a:normAutofit/>
          </a:bodyPr>
          <a:lstStyle>
            <a:lvl1pPr algn="l"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82" y="3501987"/>
            <a:ext cx="6099170" cy="1012863"/>
          </a:xfrm>
        </p:spPr>
        <p:txBody>
          <a:bodyPr anchor="b">
            <a:normAutofit/>
          </a:bodyPr>
          <a:lstStyle>
            <a:lvl1pPr marL="0" indent="0" algn="l">
              <a:buNone/>
              <a:defRPr sz="3556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079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62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416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04" y="1682782"/>
            <a:ext cx="6867216" cy="2832068"/>
          </a:xfrm>
        </p:spPr>
        <p:txBody>
          <a:bodyPr anchor="b">
            <a:normAutofit/>
          </a:bodyPr>
          <a:lstStyle>
            <a:lvl1pPr>
              <a:defRPr sz="11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103" y="628651"/>
            <a:ext cx="6867217" cy="1054131"/>
          </a:xfrm>
        </p:spPr>
        <p:txBody>
          <a:bodyPr>
            <a:normAutofit/>
          </a:bodyPr>
          <a:lstStyle>
            <a:lvl1pPr marL="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14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8" y="562970"/>
            <a:ext cx="8134917" cy="97811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721" y="1556438"/>
            <a:ext cx="3428466" cy="3076119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671" y="1556438"/>
            <a:ext cx="3577643" cy="3076119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019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237" y="557852"/>
            <a:ext cx="8073203" cy="7690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721" y="1326874"/>
            <a:ext cx="3428465" cy="611256"/>
          </a:xfrm>
        </p:spPr>
        <p:txBody>
          <a:bodyPr anchor="b">
            <a:noAutofit/>
          </a:bodyPr>
          <a:lstStyle>
            <a:lvl1pPr marL="0" indent="0">
              <a:buNone/>
              <a:defRPr sz="3556" b="0" cap="all" spc="178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2721" y="2008948"/>
            <a:ext cx="3428465" cy="26300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3975" y="1326874"/>
            <a:ext cx="3428465" cy="611256"/>
          </a:xfrm>
        </p:spPr>
        <p:txBody>
          <a:bodyPr anchor="b">
            <a:noAutofit/>
          </a:bodyPr>
          <a:lstStyle>
            <a:lvl1pPr marL="0" indent="0">
              <a:buNone/>
              <a:defRPr sz="3556" b="0" cap="all" spc="178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73975" y="2008947"/>
            <a:ext cx="3428465" cy="26300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02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568324"/>
            <a:ext cx="5430220" cy="266065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691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308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47" y="574977"/>
            <a:ext cx="2963809" cy="1132971"/>
          </a:xfrm>
        </p:spPr>
        <p:txBody>
          <a:bodyPr anchor="t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050" y="526840"/>
            <a:ext cx="4687491" cy="3988010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2965" y="1707948"/>
            <a:ext cx="2814560" cy="280690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61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29" y="574387"/>
            <a:ext cx="2996770" cy="1331084"/>
          </a:xfrm>
        </p:spPr>
        <p:txBody>
          <a:bodyPr anchor="t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29050" y="628651"/>
            <a:ext cx="4687491" cy="388619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5103" y="1914525"/>
            <a:ext cx="2802422" cy="2600324"/>
          </a:xfrm>
        </p:spPr>
        <p:txBody>
          <a:bodyPr anchor="b"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103" y="47402"/>
            <a:ext cx="2057400" cy="238666"/>
          </a:xfrm>
        </p:spPr>
        <p:txBody>
          <a:bodyPr/>
          <a:lstStyle/>
          <a:p>
            <a:fld id="{3220A08F-2B1D-4498-A043-7C299B1C256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971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568088"/>
            <a:ext cx="8156965" cy="91098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1601" y="1479076"/>
            <a:ext cx="8136655" cy="30357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2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19622" y="566986"/>
            <a:ext cx="1708164" cy="40037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566986"/>
            <a:ext cx="6172565" cy="40037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441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5410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465151"/>
            <a:ext cx="7467560" cy="1079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601" y="1730086"/>
            <a:ext cx="7467560" cy="290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103" y="47402"/>
            <a:ext cx="2057400" cy="238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2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08012" y="4818571"/>
            <a:ext cx="30449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2963" y="4819362"/>
            <a:ext cx="32232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0780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96" userDrawn="1">
          <p15:clr>
            <a:srgbClr val="F26B43"/>
          </p15:clr>
        </p15:guide>
        <p15:guide id="19" orient="horz" pos="1620" userDrawn="1">
          <p15:clr>
            <a:srgbClr val="F26B43"/>
          </p15:clr>
        </p15:guide>
        <p15:guide id="20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SUBSCRIPTION MANAGEMENT DASHBOARD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Subscription Manager with Intelligent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dirty="0">
                <a:solidFill>
                  <a:srgbClr val="CCCCCC"/>
                </a:solidFill>
                <a:latin typeface="Arial"/>
                <a:ea typeface="Arial" pitchFamily="34" charset="-122"/>
                <a:cs typeface="Arial"/>
              </a:rPr>
              <a:t>By </a:t>
            </a:r>
            <a:r>
              <a:rPr lang="en-US" sz="2000" dirty="0" err="1">
                <a:solidFill>
                  <a:srgbClr val="CCCCCC"/>
                </a:solidFill>
                <a:latin typeface="Arial"/>
                <a:ea typeface="Arial" pitchFamily="34" charset="-122"/>
                <a:cs typeface="Arial"/>
              </a:rPr>
              <a:t>Satyadeep</a:t>
            </a:r>
            <a:r>
              <a:rPr lang="en-US" sz="2000" dirty="0">
                <a:solidFill>
                  <a:srgbClr val="CCCCCC"/>
                </a:solidFill>
                <a:latin typeface="Arial"/>
                <a:ea typeface="Arial" pitchFamily="34" charset="-122"/>
                <a:cs typeface="Arial"/>
              </a:rPr>
              <a:t>  Mohanta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 |  LangGraph  |  Groq LLM  |  MCP Protocol  |  ChromaDB  |  JWT  |  SQLAlchemy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71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7260" y="-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599342"/>
            <a:ext cx="1371600" cy="4572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829584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3097" y="622644"/>
            <a:ext cx="792773" cy="6956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00" b="1" dirty="0">
              <a:latin typeface="Arial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7058" y="760095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Why This Project Exists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189775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7260" y="1085411"/>
            <a:ext cx="408110" cy="4318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endParaRPr lang="en-US" sz="1000" b="1" dirty="0">
              <a:solidFill>
                <a:srgbClr val="FFFFFF"/>
              </a:solidFill>
              <a:latin typeface="Arial"/>
              <a:ea typeface="Arial" pitchFamily="34" charset="-122"/>
              <a:cs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7058" y="1101969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 — Full Solution Overview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5183" y="2090372"/>
            <a:ext cx="525340" cy="3915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00" b="1" dirty="0">
              <a:latin typeface="Arial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77058" y="1418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End to 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7058" y="178571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Auth, Database Design &amp; CRUD APIs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7058" y="3017813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dirty="0">
                <a:latin typeface="Arial"/>
                <a:cs typeface="Arial"/>
              </a:rPr>
              <a:t>Automated Renewal Reminder Workfl</a:t>
            </a:r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1520" y="3685618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77058" y="238887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 — Tool Execution Layer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" y="4031156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3703320"/>
            <a:ext cx="228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00" b="1" dirty="0">
              <a:latin typeface="Arial"/>
              <a:cs typeface="Arial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77058" y="2697773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ChromaDB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Two-Layer Memory System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1520" y="4362040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31520" y="4114800"/>
            <a:ext cx="228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00" b="1" dirty="0">
              <a:latin typeface="Arial"/>
              <a:cs typeface="Arial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77058" y="42925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 &amp; Guardrails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" y="4729558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3152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00" b="1" dirty="0">
              <a:latin typeface="Arial"/>
              <a:cs typeface="Arial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77058" y="4660070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>
                <a:latin typeface="Arial"/>
                <a:cs typeface="Arial"/>
              </a:rPr>
              <a:t>Results &amp; Future Enhance</a:t>
            </a:r>
            <a:endParaRPr lang="en-US" sz="1600" dirty="0">
              <a:latin typeface="Arial"/>
              <a:cs typeface="Arial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B47D804-8634-CB80-3761-921359B94306}"/>
              </a:ext>
            </a:extLst>
          </p:cNvPr>
          <p:cNvCxnSpPr/>
          <p:nvPr/>
        </p:nvCxnSpPr>
        <p:spPr>
          <a:xfrm>
            <a:off x="3518898" y="1898866"/>
            <a:ext cx="41" cy="124762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 17">
            <a:extLst>
              <a:ext uri="{FF2B5EF4-FFF2-40B4-BE49-F238E27FC236}">
                <a16:creationId xmlns:a16="http://schemas.microsoft.com/office/drawing/2014/main" id="{8FC0689A-91CB-0128-1F5A-139FE788EBFF}"/>
              </a:ext>
            </a:extLst>
          </p:cNvPr>
          <p:cNvSpPr/>
          <p:nvPr/>
        </p:nvSpPr>
        <p:spPr>
          <a:xfrm>
            <a:off x="1077057" y="209095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Agent Graph &amp; Agentic Loop</a:t>
            </a:r>
            <a:endParaRPr lang="en-US" sz="1600" dirty="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59149FFD-892C-1E87-7675-96D4774995E3}"/>
              </a:ext>
            </a:extLst>
          </p:cNvPr>
          <p:cNvSpPr/>
          <p:nvPr/>
        </p:nvSpPr>
        <p:spPr>
          <a:xfrm>
            <a:off x="1077057" y="3318217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dirty="0">
                <a:latin typeface="Arial"/>
                <a:cs typeface="Arial"/>
              </a:rPr>
              <a:t>Subscription &amp; Dashboard </a:t>
            </a:r>
            <a:r>
              <a:rPr lang="en-US" sz="1600">
                <a:latin typeface="Arial"/>
                <a:cs typeface="Arial"/>
              </a:rPr>
              <a:t>Flow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15A696A9-C562-D685-21B6-B4352B43A7EA}"/>
              </a:ext>
            </a:extLst>
          </p:cNvPr>
          <p:cNvSpPr/>
          <p:nvPr/>
        </p:nvSpPr>
        <p:spPr>
          <a:xfrm>
            <a:off x="1077056" y="3611293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>
                <a:latin typeface="Arial"/>
                <a:cs typeface="Arial"/>
              </a:rPr>
              <a:t>Authentication Flow 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71302353-EB05-6BB3-F63A-AF4B0D7FE5EC}"/>
              </a:ext>
            </a:extLst>
          </p:cNvPr>
          <p:cNvSpPr/>
          <p:nvPr/>
        </p:nvSpPr>
        <p:spPr>
          <a:xfrm>
            <a:off x="1077056" y="3962985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>
                <a:latin typeface="Arial"/>
                <a:cs typeface="Arial"/>
              </a:rPr>
              <a:t>Reminder Scheduler  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0BB0D74B-E801-6370-A91E-322CE7B740E8}"/>
              </a:ext>
            </a:extLst>
          </p:cNvPr>
          <p:cNvSpPr/>
          <p:nvPr/>
        </p:nvSpPr>
        <p:spPr>
          <a:xfrm>
            <a:off x="731519" y="1519487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150EB7ED-3EAF-17A7-86BD-D04ABD77FACD}"/>
              </a:ext>
            </a:extLst>
          </p:cNvPr>
          <p:cNvSpPr/>
          <p:nvPr/>
        </p:nvSpPr>
        <p:spPr>
          <a:xfrm>
            <a:off x="735182" y="1856525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8349CB14-3A19-7CF1-0E75-39C7C73B46E8}"/>
              </a:ext>
            </a:extLst>
          </p:cNvPr>
          <p:cNvSpPr/>
          <p:nvPr/>
        </p:nvSpPr>
        <p:spPr>
          <a:xfrm>
            <a:off x="731518" y="2153265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B0598787-ACBA-861D-5C5F-4145BDAFC088}"/>
              </a:ext>
            </a:extLst>
          </p:cNvPr>
          <p:cNvSpPr/>
          <p:nvPr/>
        </p:nvSpPr>
        <p:spPr>
          <a:xfrm>
            <a:off x="731517" y="2457331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E9E1459C-EBB4-B5ED-DDCC-5358E6F8FCD1}"/>
              </a:ext>
            </a:extLst>
          </p:cNvPr>
          <p:cNvSpPr/>
          <p:nvPr/>
        </p:nvSpPr>
        <p:spPr>
          <a:xfrm>
            <a:off x="731517" y="2768726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9C9F55AE-4002-5281-D222-651C27A3E3DB}"/>
              </a:ext>
            </a:extLst>
          </p:cNvPr>
          <p:cNvSpPr/>
          <p:nvPr/>
        </p:nvSpPr>
        <p:spPr>
          <a:xfrm>
            <a:off x="738844" y="3087447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E0582051-CF1E-01A3-1836-09F8A97F6BBD}"/>
              </a:ext>
            </a:extLst>
          </p:cNvPr>
          <p:cNvSpPr/>
          <p:nvPr/>
        </p:nvSpPr>
        <p:spPr>
          <a:xfrm>
            <a:off x="738843" y="3387851"/>
            <a:ext cx="228600" cy="22860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868680"/>
            <a:ext cx="1371600" cy="4572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use 10-20 paid SaaS tools simultaneously with zero centralized visibility into spending, renewals, or duplicate subscriptions.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31520" y="2011680"/>
            <a:ext cx="54864" cy="64008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05840" y="2057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Centralized Dashboard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2331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 scattered across email receipts, spreadsheets, and personal memory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31520" y="2743200"/>
            <a:ext cx="54864" cy="64008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005840" y="2788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Renewal Charges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05840" y="3063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Auto-renewals catch teams off-guard — no proactive alerts or reminders exist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31520" y="3474720"/>
            <a:ext cx="54864" cy="64008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00584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Context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05840" y="3794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see total monthly/yearly spend or compare tool costs across categories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731520" y="4206240"/>
            <a:ext cx="54864" cy="64008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1005840" y="4251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Tool Waste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05840" y="4526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pay for multiple overlapping tools in the same category unknowingly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BUILT — THE SOLUTION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868680"/>
            <a:ext cx="1371600" cy="4572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31520" y="1188720"/>
            <a:ext cx="3657600" cy="329184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 System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spreadsheet tracking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renewal alerts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spending insights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natural language queries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3657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 mixed, no isolation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188720"/>
            <a:ext cx="3657600" cy="329184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754880" y="1188720"/>
            <a:ext cx="3657600" cy="36576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7548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This System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02920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Dynamic reasoning &amp; planning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email reminders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Tool &amp; API integration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assistant with tool calling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3657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JWT auth and data isolation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182880"/>
            <a:ext cx="50292" cy="7772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3" name="Text 1"/>
          <p:cNvSpPr/>
          <p:nvPr/>
        </p:nvSpPr>
        <p:spPr>
          <a:xfrm>
            <a:off x="50292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Architecture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Calibri"/>
                <a:ea typeface="Calibri"/>
                <a:cs typeface="Calibri"/>
              </a:rPr>
              <a:t>Comprehensive flow of user requests, AI reasoning, and data execution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1261872"/>
            <a:ext cx="914400" cy="1115568"/>
          </a:xfrm>
          <a:prstGeom prst="roundRect">
            <a:avLst>
              <a:gd name="adj" fmla="val 10000"/>
            </a:avLst>
          </a:prstGeom>
          <a:solidFill>
            <a:srgbClr val="0A1A2A"/>
          </a:solidFill>
          <a:ln w="1778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335024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8470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819656"/>
            <a:ext cx="20116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298448" y="1115568"/>
            <a:ext cx="1426464" cy="1426464"/>
          </a:xfrm>
          <a:prstGeom prst="roundRect">
            <a:avLst>
              <a:gd name="adj" fmla="val 6410"/>
            </a:avLst>
          </a:prstGeom>
          <a:solidFill>
            <a:srgbClr val="0A2828"/>
          </a:solidFill>
          <a:ln w="1778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08176" y="1188720"/>
            <a:ext cx="1207008" cy="77029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08176" y="1971446"/>
            <a:ext cx="1207008" cy="5135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 / CSS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17520" y="1828800"/>
            <a:ext cx="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98146" y="1137505"/>
            <a:ext cx="1327550" cy="826652"/>
          </a:xfrm>
          <a:prstGeom prst="roundRect">
            <a:avLst>
              <a:gd name="adj" fmla="val 11364"/>
            </a:avLst>
          </a:prstGeom>
          <a:solidFill>
            <a:srgbClr val="0F2440"/>
          </a:solidFill>
          <a:ln w="1778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08960" y="1216152"/>
            <a:ext cx="1207008" cy="43452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1625803"/>
            <a:ext cx="1207008" cy="28968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app/main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25696" y="1545336"/>
            <a:ext cx="192024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4617720" y="1143000"/>
            <a:ext cx="1417320" cy="804672"/>
          </a:xfrm>
          <a:prstGeom prst="roundRect">
            <a:avLst>
              <a:gd name="adj" fmla="val 11364"/>
            </a:avLst>
          </a:prstGeom>
          <a:solidFill>
            <a:srgbClr val="0A2828"/>
          </a:solidFill>
          <a:ln w="17780">
            <a:solidFill>
              <a:srgbClr val="2A8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27448" y="1216152"/>
            <a:ext cx="1197864" cy="43452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27448" y="1625803"/>
            <a:ext cx="1197864" cy="289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Subs, Dash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35040" y="1545336"/>
            <a:ext cx="132588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360920" y="1234440"/>
            <a:ext cx="1261872" cy="1426464"/>
          </a:xfrm>
          <a:prstGeom prst="roundRect">
            <a:avLst>
              <a:gd name="adj" fmla="val 7246"/>
            </a:avLst>
          </a:prstGeom>
          <a:solidFill>
            <a:srgbClr val="3B0A1E"/>
          </a:solidFill>
          <a:ln w="20320">
            <a:solidFill>
              <a:srgbClr val="BE185D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60920" y="1307592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60920" y="174650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60920" y="2112264"/>
            <a:ext cx="1261872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(Data/</a:t>
            </a:r>
            <a:r>
              <a:rPr lang="en-US" sz="75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subscriptions.db</a:t>
            </a:r>
            <a:r>
              <a:rPr lang="en-US" sz="7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088985" y="2196173"/>
            <a:ext cx="1338541" cy="691192"/>
          </a:xfrm>
          <a:prstGeom prst="roundRect">
            <a:avLst>
              <a:gd name="adj" fmla="val 12195"/>
            </a:avLst>
          </a:prstGeom>
          <a:solidFill>
            <a:srgbClr val="0F2440"/>
          </a:solidFill>
          <a:ln w="1778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158417" y="2111795"/>
            <a:ext cx="1207008" cy="404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Stream API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58417" y="2565460"/>
            <a:ext cx="1207008" cy="2699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/api/chat/stream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90587" y="3039500"/>
            <a:ext cx="6707255" cy="1993394"/>
          </a:xfrm>
          <a:prstGeom prst="roundRect">
            <a:avLst>
              <a:gd name="adj" fmla="val 4587"/>
            </a:avLst>
          </a:prstGeom>
          <a:solidFill>
            <a:srgbClr val="050814"/>
          </a:solidFill>
          <a:ln w="12700">
            <a:solidFill>
              <a:srgbClr val="7C3AED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973683" y="3077879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 &amp; TOOL LAYER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82880" y="3246120"/>
            <a:ext cx="1389888" cy="969264"/>
          </a:xfrm>
          <a:prstGeom prst="roundRect">
            <a:avLst>
              <a:gd name="adj" fmla="val 9434"/>
            </a:avLst>
          </a:prstGeom>
          <a:solidFill>
            <a:srgbClr val="1A1200"/>
          </a:solidFill>
          <a:ln w="20320">
            <a:solidFill>
              <a:srgbClr val="CA8A04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82880" y="33375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Memory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82880" y="3703320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(Short-Term)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82880" y="3904488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ChromaDB (Long)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96118" y="3443639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394760" y="3295576"/>
            <a:ext cx="1426464" cy="804672"/>
          </a:xfrm>
          <a:prstGeom prst="roundRect">
            <a:avLst>
              <a:gd name="adj" fmla="val 11364"/>
            </a:avLst>
          </a:prstGeom>
          <a:solidFill>
            <a:srgbClr val="091A1A"/>
          </a:solidFill>
          <a:ln w="1778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509984" y="3231349"/>
            <a:ext cx="1207008" cy="43452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Runner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98993" y="3767389"/>
            <a:ext cx="1207008" cy="28968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85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agent_runner</a:t>
            </a:r>
            <a:r>
              <a:rPr lang="en-US" sz="8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)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601857" y="335817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419893" y="3284586"/>
            <a:ext cx="1305482" cy="760711"/>
          </a:xfrm>
          <a:prstGeom prst="roundRect">
            <a:avLst>
              <a:gd name="adj" fmla="val 11364"/>
            </a:avLst>
          </a:prstGeom>
          <a:solidFill>
            <a:srgbClr val="1E0D50"/>
          </a:solidFill>
          <a:ln w="1778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309813" y="3203873"/>
            <a:ext cx="1261872" cy="43452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441698" y="3701447"/>
            <a:ext cx="1272862" cy="2951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Reasoning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49077" y="3352683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63640" y="3246120"/>
            <a:ext cx="1115568" cy="804672"/>
          </a:xfrm>
          <a:prstGeom prst="roundRect">
            <a:avLst>
              <a:gd name="adj" fmla="val 11364"/>
            </a:avLst>
          </a:prstGeom>
          <a:solidFill>
            <a:srgbClr val="2D1A06"/>
          </a:solidFill>
          <a:ln w="1778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373368" y="3319272"/>
            <a:ext cx="896112" cy="43452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73368" y="3728923"/>
            <a:ext cx="896112" cy="28968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endParaRPr lang="en-US" sz="850" dirty="0">
              <a:solidFill>
                <a:srgbClr val="94A3B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287768" y="3044952"/>
            <a:ext cx="100584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B4530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589549" y="3154798"/>
            <a:ext cx="1243555" cy="1243847"/>
          </a:xfrm>
          <a:prstGeom prst="roundRect">
            <a:avLst>
              <a:gd name="adj" fmla="val 8475"/>
            </a:avLst>
          </a:prstGeom>
          <a:solidFill>
            <a:srgbClr val="2D1A06"/>
          </a:solidFill>
          <a:ln w="2032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750595" y="3180354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(Tools)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680960" y="3485710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get_subscriptions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680960" y="3675888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get_spending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680960" y="3877056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get_renewals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686455" y="4050748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get_insights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752882" y="2786987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982073" y="410934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303520" y="4050792"/>
            <a:ext cx="0" cy="301752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arrow"/>
          </a:ln>
        </p:spPr>
      </p:sp>
      <p:sp>
        <p:nvSpPr>
          <p:cNvPr id="68" name="Shape 66"/>
          <p:cNvSpPr/>
          <p:nvPr/>
        </p:nvSpPr>
        <p:spPr>
          <a:xfrm>
            <a:off x="4701979" y="4370861"/>
            <a:ext cx="1290829" cy="584953"/>
          </a:xfrm>
          <a:prstGeom prst="roundRect">
            <a:avLst>
              <a:gd name="adj" fmla="val 12195"/>
            </a:avLst>
          </a:prstGeom>
          <a:solidFill>
            <a:srgbClr val="0D0A2A"/>
          </a:solidFill>
          <a:ln w="17780">
            <a:solidFill>
              <a:srgbClr val="4338CA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701804" y="4334109"/>
            <a:ext cx="1261872" cy="404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709131" y="4685198"/>
            <a:ext cx="1261872" cy="2699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</a:t>
            </a:r>
            <a:endParaRPr lang="en-US" sz="850" dirty="0"/>
          </a:p>
        </p:txBody>
      </p:sp>
      <p:sp>
        <p:nvSpPr>
          <p:cNvPr id="72" name="Shape 64">
            <a:extLst>
              <a:ext uri="{FF2B5EF4-FFF2-40B4-BE49-F238E27FC236}">
                <a16:creationId xmlns:a16="http://schemas.microsoft.com/office/drawing/2014/main" id="{475D516D-5551-28D7-69D2-2BC16A883CC1}"/>
              </a:ext>
            </a:extLst>
          </p:cNvPr>
          <p:cNvSpPr/>
          <p:nvPr/>
        </p:nvSpPr>
        <p:spPr>
          <a:xfrm flipV="1">
            <a:off x="3847295" y="3660150"/>
            <a:ext cx="571499" cy="5978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arrow"/>
          </a:ln>
        </p:spPr>
      </p:sp>
      <p:sp>
        <p:nvSpPr>
          <p:cNvPr id="74" name="Shape 64">
            <a:extLst>
              <a:ext uri="{FF2B5EF4-FFF2-40B4-BE49-F238E27FC236}">
                <a16:creationId xmlns:a16="http://schemas.microsoft.com/office/drawing/2014/main" id="{5B42CB47-3225-0113-30AF-95E6A21EAD6F}"/>
              </a:ext>
            </a:extLst>
          </p:cNvPr>
          <p:cNvSpPr/>
          <p:nvPr/>
        </p:nvSpPr>
        <p:spPr>
          <a:xfrm flipV="1">
            <a:off x="5743135" y="3610692"/>
            <a:ext cx="500061" cy="5978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arrow"/>
          </a:ln>
        </p:spPr>
      </p:sp>
      <p:sp>
        <p:nvSpPr>
          <p:cNvPr id="76" name="Shape 64">
            <a:extLst>
              <a:ext uri="{FF2B5EF4-FFF2-40B4-BE49-F238E27FC236}">
                <a16:creationId xmlns:a16="http://schemas.microsoft.com/office/drawing/2014/main" id="{017689C0-9ED7-298E-CE10-144FC16B01A6}"/>
              </a:ext>
            </a:extLst>
          </p:cNvPr>
          <p:cNvSpPr/>
          <p:nvPr/>
        </p:nvSpPr>
        <p:spPr>
          <a:xfrm flipV="1">
            <a:off x="7375206" y="3643662"/>
            <a:ext cx="192331" cy="5978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arrow"/>
          </a:ln>
        </p:spPr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6CEBD27-A033-CC7D-93DF-3C941E2F9910}"/>
              </a:ext>
            </a:extLst>
          </p:cNvPr>
          <p:cNvCxnSpPr/>
          <p:nvPr/>
        </p:nvCxnSpPr>
        <p:spPr>
          <a:xfrm flipV="1">
            <a:off x="1571625" y="3698264"/>
            <a:ext cx="813287" cy="1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hape 22">
            <a:extLst>
              <a:ext uri="{FF2B5EF4-FFF2-40B4-BE49-F238E27FC236}">
                <a16:creationId xmlns:a16="http://schemas.microsoft.com/office/drawing/2014/main" id="{9DF3B0B8-A701-D3FC-5E8D-FA6D25ECF95D}"/>
              </a:ext>
            </a:extLst>
          </p:cNvPr>
          <p:cNvSpPr/>
          <p:nvPr/>
        </p:nvSpPr>
        <p:spPr>
          <a:xfrm>
            <a:off x="3600670" y="2880667"/>
            <a:ext cx="7033" cy="362682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arrow"/>
          </a:ln>
        </p:spPr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DA3F0443-2782-5412-A95F-43729F46A689}"/>
              </a:ext>
            </a:extLst>
          </p:cNvPr>
          <p:cNvCxnSpPr/>
          <p:nvPr/>
        </p:nvCxnSpPr>
        <p:spPr>
          <a:xfrm>
            <a:off x="2736605" y="1906831"/>
            <a:ext cx="340700" cy="664917"/>
          </a:xfrm>
          <a:prstGeom prst="bentConnector3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4EA50625-DE13-BAA3-9480-570C1B85282F}"/>
              </a:ext>
            </a:extLst>
          </p:cNvPr>
          <p:cNvCxnSpPr>
            <a:cxnSpLocks/>
          </p:cNvCxnSpPr>
          <p:nvPr/>
        </p:nvCxnSpPr>
        <p:spPr>
          <a:xfrm flipV="1">
            <a:off x="2742099" y="1445234"/>
            <a:ext cx="357186" cy="456102"/>
          </a:xfrm>
          <a:prstGeom prst="bentConnector3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9FED239-059F-C0A2-F95E-2B6F8CF65778}"/>
              </a:ext>
            </a:extLst>
          </p:cNvPr>
          <p:cNvCxnSpPr/>
          <p:nvPr/>
        </p:nvCxnSpPr>
        <p:spPr>
          <a:xfrm>
            <a:off x="8017485" y="2654177"/>
            <a:ext cx="16485" cy="478081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178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868680"/>
            <a:ext cx="1371600" cy="4572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31520" y="1188720"/>
            <a:ext cx="2468880" cy="155448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31520" y="1188720"/>
            <a:ext cx="2468880" cy="4572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13716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State Machine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74720" y="1188720"/>
            <a:ext cx="2468880" cy="155448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3474720" y="1188720"/>
            <a:ext cx="2468880" cy="4572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13716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472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47472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Execution Layer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1188720"/>
            <a:ext cx="2468880" cy="155448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6217920" y="1188720"/>
            <a:ext cx="2468880" cy="4572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13716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1792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21792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Memory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31520" y="3017520"/>
            <a:ext cx="2468880" cy="155448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731520" y="3017520"/>
            <a:ext cx="2468880" cy="4572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5920" y="320040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" y="3794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+ llama-3.1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3152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LLM, temperature=0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474720" y="3017520"/>
            <a:ext cx="2468880" cy="155448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3474720" y="3017520"/>
            <a:ext cx="2468880" cy="4572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120" y="3200400"/>
            <a:ext cx="502920" cy="5029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474720" y="3794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SQLAlchemy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347472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ORM, SQLite/Postgres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217920" y="3017520"/>
            <a:ext cx="2468880" cy="155448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4"/>
          <p:cNvSpPr/>
          <p:nvPr/>
        </p:nvSpPr>
        <p:spPr>
          <a:xfrm>
            <a:off x="6217920" y="3017520"/>
            <a:ext cx="2468880" cy="4572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0" y="3200400"/>
            <a:ext cx="502920" cy="5029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217920" y="3794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621792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HS256 Auth + bcrypt hash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03899" y="49962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 BACKEND — REST API DESIGN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provides async Python REST APIs with auto-generated Swagger docs, Pydantic v2 validation, JWT middleware, and clean separation between routes, services, and models.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920240"/>
            <a:ext cx="7680960" cy="658368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54864" cy="658368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51560" y="1965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Routes (/api/auth)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2585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/register, POST /login, GET /me — JWT tokens issued on login using python-jose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670048"/>
            <a:ext cx="7680960" cy="658368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31520" y="2670048"/>
            <a:ext cx="54864" cy="658368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051560" y="27157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Routes (/api/subscriptions)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1560" y="300837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POST/GET/PATCH/DELETE with full CRUD — every query WHERE user_id=? for isolation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3419856"/>
            <a:ext cx="7680960" cy="658368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31520" y="3419856"/>
            <a:ext cx="54864" cy="658368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Routes (/api/dashboard)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51560" y="37581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/summary, /renewals?days=30, /insights — computed from SQLAlchemy @property costs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4169664"/>
            <a:ext cx="7680960" cy="658368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731520" y="4169664"/>
            <a:ext cx="54864" cy="658368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1051560" y="42153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Route (/api/chat/stream)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51560" y="45079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streaming via StreamingResponse — spawns agent_runner subprocess, reads chunks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54864" cy="74980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Reasoning and Tool-Use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/>
              <a:t>Orchestrating AI reasoning, memory retrieval, and dynamic tool execution</a:t>
            </a:r>
          </a:p>
        </p:txBody>
      </p:sp>
      <p:sp>
        <p:nvSpPr>
          <p:cNvPr id="5" name="Shape 3"/>
          <p:cNvSpPr/>
          <p:nvPr/>
        </p:nvSpPr>
        <p:spPr>
          <a:xfrm>
            <a:off x="1874300" y="1106468"/>
            <a:ext cx="2286000" cy="749808"/>
          </a:xfrm>
          <a:prstGeom prst="roundRect">
            <a:avLst>
              <a:gd name="adj" fmla="val 12195"/>
            </a:avLst>
          </a:prstGeom>
          <a:solidFill>
            <a:srgbClr val="1A1406"/>
          </a:solidFill>
          <a:ln w="19050">
            <a:solidFill>
              <a:srgbClr val="EAB308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80882" y="11064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Memories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86377" y="1477723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(Short) + ChromaDB (Long)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73339" y="1878257"/>
            <a:ext cx="0" cy="292520"/>
          </a:xfrm>
          <a:prstGeom prst="line">
            <a:avLst/>
          </a:prstGeom>
          <a:noFill/>
          <a:ln w="19050">
            <a:solidFill>
              <a:srgbClr val="EAB308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228192" y="2242214"/>
            <a:ext cx="1699113" cy="892420"/>
          </a:xfrm>
          <a:prstGeom prst="roundRect">
            <a:avLst>
              <a:gd name="adj" fmla="val 10000"/>
            </a:avLst>
          </a:prstGeom>
          <a:solidFill>
            <a:srgbClr val="130C2A"/>
          </a:solidFill>
          <a:ln w="22860">
            <a:solidFill>
              <a:srgbClr val="8B5CF6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01739" y="217627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Node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1739" y="2490686"/>
            <a:ext cx="2732210" cy="583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Groq LLM (llama-3.1)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516" y="2375639"/>
            <a:ext cx="1081454" cy="669358"/>
          </a:xfrm>
          <a:prstGeom prst="roundRect">
            <a:avLst>
              <a:gd name="adj" fmla="val 13889"/>
            </a:avLst>
          </a:prstGeom>
          <a:solidFill>
            <a:srgbClr val="091A14"/>
          </a:solidFill>
          <a:ln w="19050">
            <a:solidFill>
              <a:srgbClr val="0D9488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-48138" y="2397619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19" y="2701217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System Prompt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 flipV="1">
            <a:off x="1434465" y="2666355"/>
            <a:ext cx="782734" cy="1099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428686" y="2313476"/>
            <a:ext cx="1517553" cy="760623"/>
          </a:xfrm>
          <a:prstGeom prst="roundRect">
            <a:avLst>
              <a:gd name="adj" fmla="val 10638"/>
            </a:avLst>
          </a:prstGeom>
          <a:solidFill>
            <a:srgbClr val="2A091A"/>
          </a:solidFill>
          <a:ln w="19050">
            <a:solidFill>
              <a:srgbClr val="EC4899"/>
            </a:solidFill>
            <a:prstDash val="dash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18781" y="2176096"/>
            <a:ext cx="1737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external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98742" y="2699326"/>
            <a:ext cx="32004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6162309" y="2476179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72093" y="2328203"/>
            <a:ext cx="1172894" cy="722771"/>
          </a:xfrm>
          <a:prstGeom prst="roundRect">
            <a:avLst>
              <a:gd name="adj" fmla="val 15385"/>
            </a:avLst>
          </a:prstGeom>
          <a:solidFill>
            <a:srgbClr val="091A14"/>
          </a:solidFill>
          <a:ln w="19050">
            <a:solidFill>
              <a:srgbClr val="10B981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9919" y="229523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659463" y="3111422"/>
            <a:ext cx="0" cy="45720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088579" y="3662040"/>
            <a:ext cx="1266311" cy="541431"/>
          </a:xfrm>
          <a:prstGeom prst="roundRect">
            <a:avLst>
              <a:gd name="adj" fmla="val 15385"/>
            </a:avLst>
          </a:prstGeom>
          <a:solidFill>
            <a:srgbClr val="091A14"/>
          </a:solidFill>
          <a:ln w="19050">
            <a:solidFill>
              <a:srgbClr val="10B981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3882" y="3634564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105064" y="3991048"/>
            <a:ext cx="1233340" cy="3697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Live SSE connection  to UI</a:t>
            </a:r>
          </a:p>
          <a:p>
            <a:pPr algn="ctr"/>
            <a:endParaRPr lang="en-US" sz="700">
              <a:solidFill>
                <a:srgbClr val="94A3B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60250" y="3238866"/>
            <a:ext cx="36576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2358" y="3643093"/>
            <a:ext cx="1737360" cy="749808"/>
          </a:xfrm>
          <a:prstGeom prst="roundRect">
            <a:avLst>
              <a:gd name="adj" fmla="val 12195"/>
            </a:avLst>
          </a:prstGeom>
          <a:solidFill>
            <a:srgbClr val="1A0E06"/>
          </a:solidFill>
          <a:ln w="19050">
            <a:solidFill>
              <a:srgbClr val="F97316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8940" y="3654083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MCP Tool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2358" y="3895344"/>
            <a:ext cx="173736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via "</a:t>
            </a:r>
            <a:r>
              <a:rPr lang="en-US" sz="85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agent_runner</a:t>
            </a:r>
            <a:r>
              <a:rPr lang="en-US" sz="8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"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06592" y="3800300"/>
            <a:ext cx="1680650" cy="19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output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991897" y="3652281"/>
            <a:ext cx="1965960" cy="749808"/>
          </a:xfrm>
          <a:prstGeom prst="roundRect">
            <a:avLst>
              <a:gd name="adj" fmla="val 12195"/>
            </a:avLst>
          </a:prstGeom>
          <a:solidFill>
            <a:srgbClr val="130C2A"/>
          </a:solidFill>
          <a:ln w="19050">
            <a:solidFill>
              <a:srgbClr val="8B5CF6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947936" y="364129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ToolMessage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64421" y="393200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result to Graph State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926080" y="3922776"/>
            <a:ext cx="0" cy="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17495" y="325319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</a:t>
            </a:r>
            <a:endParaRPr lang="en-US" sz="8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72288F7-534E-5ED9-F3CB-32E54D120CED}"/>
              </a:ext>
            </a:extLst>
          </p:cNvPr>
          <p:cNvCxnSpPr/>
          <p:nvPr/>
        </p:nvCxnSpPr>
        <p:spPr>
          <a:xfrm flipH="1" flipV="1">
            <a:off x="2857501" y="3203695"/>
            <a:ext cx="5496" cy="40115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D46C869-36EC-CB88-5028-D2231498B879}"/>
              </a:ext>
            </a:extLst>
          </p:cNvPr>
          <p:cNvCxnSpPr>
            <a:cxnSpLocks/>
          </p:cNvCxnSpPr>
          <p:nvPr/>
        </p:nvCxnSpPr>
        <p:spPr>
          <a:xfrm flipH="1" flipV="1">
            <a:off x="4016986" y="4022478"/>
            <a:ext cx="719869" cy="2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BAA4667-7795-60FF-2A36-87C90C9EB094}"/>
              </a:ext>
            </a:extLst>
          </p:cNvPr>
          <p:cNvCxnSpPr>
            <a:cxnSpLocks/>
          </p:cNvCxnSpPr>
          <p:nvPr/>
        </p:nvCxnSpPr>
        <p:spPr>
          <a:xfrm flipV="1">
            <a:off x="6028227" y="2703632"/>
            <a:ext cx="1005618" cy="2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94BCB7E-8E2C-33AF-F62E-79054E73507F}"/>
              </a:ext>
            </a:extLst>
          </p:cNvPr>
          <p:cNvCxnSpPr>
            <a:cxnSpLocks/>
          </p:cNvCxnSpPr>
          <p:nvPr/>
        </p:nvCxnSpPr>
        <p:spPr>
          <a:xfrm>
            <a:off x="5116024" y="3110279"/>
            <a:ext cx="16485" cy="478079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7ED4825-831D-D0A2-56F8-846F96A23A01}"/>
              </a:ext>
            </a:extLst>
          </p:cNvPr>
          <p:cNvSpPr txBox="1"/>
          <p:nvPr/>
        </p:nvSpPr>
        <p:spPr>
          <a:xfrm>
            <a:off x="7033847" y="2648683"/>
            <a:ext cx="1252904" cy="55399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Calibri"/>
              </a:rPr>
              <a:t>Synthesize</a:t>
            </a:r>
            <a:r>
              <a:rPr lang="en-US" sz="700">
                <a:latin typeface="Calibri"/>
                <a:ea typeface="Calibri"/>
                <a:cs typeface="Calibri"/>
              </a:rPr>
              <a:t> retrieved </a:t>
            </a:r>
            <a:endParaRPr lang="en-US" sz="700">
              <a:latin typeface="Neue Haas Grotesk Text Pro"/>
              <a:ea typeface="Calibri"/>
              <a:cs typeface="Calibri"/>
            </a:endParaRPr>
          </a:p>
          <a:p>
            <a:pPr algn="ctr"/>
            <a:r>
              <a:rPr lang="en-US" sz="700"/>
              <a:t>content</a:t>
            </a:r>
          </a:p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34923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54864" cy="74980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Architecture: Safe Tool Execution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latin typeface="Calibri"/>
                <a:ea typeface="Calibri"/>
                <a:cs typeface="Calibri"/>
              </a:rPr>
              <a:t>Isolating LLM reasoning from local data execution via standard JSON-RPC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857" y="1211066"/>
            <a:ext cx="1078992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800" b="1" dirty="0">
                <a:latin typeface="Calibri"/>
                <a:ea typeface="Calibri"/>
                <a:cs typeface="Calibri"/>
              </a:rPr>
              <a:t>REASONING LAYER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613094" y="1136373"/>
            <a:ext cx="5919970" cy="469221"/>
          </a:xfrm>
          <a:prstGeom prst="roundRect">
            <a:avLst>
              <a:gd name="adj" fmla="val 12821"/>
            </a:avLst>
          </a:prstGeom>
          <a:solidFill>
            <a:srgbClr val="130C2A"/>
          </a:solidFill>
          <a:ln w="19050">
            <a:solidFill>
              <a:srgbClr val="8B5CF6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8319" y="1007946"/>
            <a:ext cx="7589520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LangGraph</a:t>
            </a:r>
            <a:r>
              <a:rPr lang="en-US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Graph &amp; Agent Runner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20062" y="1723695"/>
            <a:ext cx="182880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50" dirty="0">
                <a:latin typeface="Calibri"/>
                <a:ea typeface="Calibri"/>
                <a:cs typeface="Calibri"/>
              </a:rPr>
              <a:t>Emit `</a:t>
            </a:r>
            <a:r>
              <a:rPr lang="en-US" sz="850" dirty="0" err="1">
                <a:latin typeface="Calibri"/>
                <a:ea typeface="Calibri"/>
                <a:cs typeface="Calibri"/>
              </a:rPr>
              <a:t>tool_call</a:t>
            </a:r>
            <a:r>
              <a:rPr lang="en-US" sz="850" dirty="0">
                <a:latin typeface="Calibri"/>
                <a:ea typeface="Calibri"/>
                <a:cs typeface="Calibri"/>
              </a:rPr>
              <a:t>`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997999" y="1605594"/>
            <a:ext cx="0" cy="502920"/>
          </a:xfrm>
          <a:prstGeom prst="line">
            <a:avLst/>
          </a:prstGeom>
          <a:noFill/>
          <a:ln w="19050">
            <a:solidFill>
              <a:schemeClr val="tx1">
                <a:lumMod val="65000"/>
              </a:schemeClr>
            </a:solidFill>
            <a:prstDash val="solid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5363110" y="1723695"/>
            <a:ext cx="1920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50" dirty="0">
                <a:latin typeface="Calibri"/>
                <a:ea typeface="Calibri"/>
                <a:cs typeface="Calibri"/>
              </a:rPr>
              <a:t>Inject `</a:t>
            </a:r>
            <a:r>
              <a:rPr lang="en-US" sz="850" dirty="0" err="1">
                <a:latin typeface="Calibri"/>
                <a:ea typeface="Calibri"/>
                <a:cs typeface="Calibri"/>
              </a:rPr>
              <a:t>ToolMessage</a:t>
            </a:r>
            <a:r>
              <a:rPr lang="en-US" sz="850" dirty="0">
                <a:latin typeface="Calibri"/>
                <a:ea typeface="Calibri"/>
                <a:cs typeface="Calibri"/>
              </a:rPr>
              <a:t>`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89320" y="2423160"/>
            <a:ext cx="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438963" y="2191786"/>
            <a:ext cx="1078992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800" b="1" dirty="0">
                <a:latin typeface="Calibri"/>
                <a:ea typeface="Calibri"/>
                <a:cs typeface="Calibri"/>
              </a:rPr>
              <a:t>TRANSPORT LAYER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613095" y="2108515"/>
            <a:ext cx="5945656" cy="488484"/>
          </a:xfrm>
          <a:prstGeom prst="roundRect">
            <a:avLst>
              <a:gd name="adj" fmla="val 12821"/>
            </a:avLst>
          </a:prstGeom>
          <a:solidFill>
            <a:srgbClr val="1A1006"/>
          </a:solidFill>
          <a:ln w="19050">
            <a:solidFill>
              <a:srgbClr val="F97316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7150" y="2012194"/>
            <a:ext cx="7589520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⚡  MCP Client Singleton </a:t>
            </a:r>
            <a:endParaRPr lang="en-US" sz="1400" b="1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41118" y="2725220"/>
            <a:ext cx="210312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50" dirty="0">
                <a:latin typeface="Calibri"/>
                <a:ea typeface="Calibri"/>
                <a:cs typeface="Calibri"/>
              </a:rPr>
              <a:t>stdin JSON-RPC Request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999027" y="2596999"/>
            <a:ext cx="0" cy="457200"/>
          </a:xfrm>
          <a:prstGeom prst="line">
            <a:avLst/>
          </a:prstGeom>
          <a:ln>
            <a:solidFill>
              <a:schemeClr val="tx1">
                <a:lumMod val="65000"/>
              </a:schemeClr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17" name="Text 15"/>
          <p:cNvSpPr/>
          <p:nvPr/>
        </p:nvSpPr>
        <p:spPr>
          <a:xfrm>
            <a:off x="5275523" y="2725220"/>
            <a:ext cx="210312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50" dirty="0" err="1">
                <a:latin typeface="Calibri"/>
                <a:ea typeface="Calibri"/>
                <a:cs typeface="Calibri"/>
              </a:rPr>
              <a:t>stdout</a:t>
            </a:r>
            <a:r>
              <a:rPr lang="en-US" sz="850" dirty="0">
                <a:latin typeface="Calibri"/>
                <a:ea typeface="Calibri"/>
                <a:cs typeface="Calibri"/>
              </a:rPr>
              <a:t> JSON-RPC Result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3593592"/>
            <a:ext cx="0" cy="0"/>
          </a:xfrm>
          <a:prstGeom prst="line">
            <a:avLst/>
          </a:prstGeom>
          <a:noFill/>
          <a:ln w="19050">
            <a:solidFill>
              <a:srgbClr val="EAB308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-36216" y="3351892"/>
            <a:ext cx="1078992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800" b="1" dirty="0">
                <a:latin typeface="Calibri"/>
                <a:ea typeface="Calibri"/>
                <a:cs typeface="Calibri"/>
              </a:rPr>
              <a:t>EXECUTION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25072" y="3060621"/>
            <a:ext cx="6632739" cy="897242"/>
          </a:xfrm>
          <a:prstGeom prst="roundRect">
            <a:avLst>
              <a:gd name="adj" fmla="val 8197"/>
            </a:avLst>
          </a:prstGeom>
          <a:solidFill>
            <a:srgbClr val="1A1A06"/>
          </a:solidFill>
          <a:ln w="15240">
            <a:solidFill>
              <a:srgbClr val="EAB308"/>
            </a:solidFill>
            <a:prstDash val="dash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95314" y="3075209"/>
            <a:ext cx="4114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MCP Server 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243944" y="3334735"/>
            <a:ext cx="1281702" cy="439478"/>
          </a:xfrm>
          <a:prstGeom prst="roundRect">
            <a:avLst>
              <a:gd name="adj" fmla="val 13333"/>
            </a:avLst>
          </a:prstGeom>
          <a:solidFill>
            <a:srgbClr val="1A1A00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1938" y="322557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07171" y="3315471"/>
            <a:ext cx="1288123" cy="458742"/>
          </a:xfrm>
          <a:prstGeom prst="roundRect">
            <a:avLst>
              <a:gd name="adj" fmla="val 13333"/>
            </a:avLst>
          </a:prstGeom>
          <a:solidFill>
            <a:srgbClr val="1A1A00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3693" y="32384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get_spending_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989661" y="3321892"/>
            <a:ext cx="1153275" cy="471585"/>
          </a:xfrm>
          <a:prstGeom prst="roundRect">
            <a:avLst>
              <a:gd name="adj" fmla="val 13333"/>
            </a:avLst>
          </a:prstGeom>
          <a:solidFill>
            <a:srgbClr val="1A1A00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0498" y="328336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get_upcoming_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262988" y="3321892"/>
            <a:ext cx="1108326" cy="452320"/>
          </a:xfrm>
          <a:prstGeom prst="roundRect">
            <a:avLst>
              <a:gd name="adj" fmla="val 13333"/>
            </a:avLst>
          </a:prstGeom>
          <a:solidFill>
            <a:srgbClr val="1A1A00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8140" y="327694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get_spending_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497788" y="3315471"/>
            <a:ext cx="1101904" cy="478006"/>
          </a:xfrm>
          <a:prstGeom prst="roundRect">
            <a:avLst>
              <a:gd name="adj" fmla="val 13333"/>
            </a:avLst>
          </a:prstGeom>
          <a:solidFill>
            <a:srgbClr val="1A1A00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9361" y="3212729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75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3CE11236-5837-5F34-83AC-61453739148F}"/>
              </a:ext>
            </a:extLst>
          </p:cNvPr>
          <p:cNvSpPr/>
          <p:nvPr/>
        </p:nvSpPr>
        <p:spPr>
          <a:xfrm>
            <a:off x="5637172" y="1605593"/>
            <a:ext cx="0" cy="502920"/>
          </a:xfrm>
          <a:prstGeom prst="line">
            <a:avLst/>
          </a:prstGeom>
          <a:ln>
            <a:solidFill>
              <a:schemeClr val="tx1">
                <a:lumMod val="65000"/>
              </a:schemeClr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1A3AC58F-56AA-27E9-775E-0CC33ACC499B}"/>
              </a:ext>
            </a:extLst>
          </p:cNvPr>
          <p:cNvSpPr/>
          <p:nvPr/>
        </p:nvSpPr>
        <p:spPr>
          <a:xfrm flipH="1" flipV="1">
            <a:off x="5638200" y="2636810"/>
            <a:ext cx="12843" cy="390418"/>
          </a:xfrm>
          <a:prstGeom prst="line">
            <a:avLst/>
          </a:prstGeom>
          <a:ln>
            <a:solidFill>
              <a:schemeClr val="tx1">
                <a:lumMod val="65000"/>
              </a:schemeClr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9D8A3F4B-A534-7A3A-8AF8-65F8B52FBFD7}"/>
              </a:ext>
            </a:extLst>
          </p:cNvPr>
          <p:cNvSpPr/>
          <p:nvPr/>
        </p:nvSpPr>
        <p:spPr>
          <a:xfrm>
            <a:off x="1735100" y="4394515"/>
            <a:ext cx="5945656" cy="488484"/>
          </a:xfrm>
          <a:prstGeom prst="roundRect">
            <a:avLst>
              <a:gd name="adj" fmla="val 12821"/>
            </a:avLst>
          </a:prstGeom>
          <a:solidFill>
            <a:srgbClr val="1A1006"/>
          </a:solidFill>
          <a:ln w="19050">
            <a:solidFill>
              <a:srgbClr val="F97316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5B9604D1-A599-6EF9-380F-A499D95C9515}"/>
              </a:ext>
            </a:extLst>
          </p:cNvPr>
          <p:cNvSpPr/>
          <p:nvPr/>
        </p:nvSpPr>
        <p:spPr>
          <a:xfrm>
            <a:off x="2844914" y="3932639"/>
            <a:ext cx="0" cy="457200"/>
          </a:xfrm>
          <a:prstGeom prst="line">
            <a:avLst/>
          </a:prstGeom>
          <a:ln>
            <a:solidFill>
              <a:schemeClr val="tx1">
                <a:lumMod val="65000"/>
              </a:schemeClr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A32467A6-72A3-A58A-2BC1-35678EE1956D}"/>
              </a:ext>
            </a:extLst>
          </p:cNvPr>
          <p:cNvSpPr/>
          <p:nvPr/>
        </p:nvSpPr>
        <p:spPr>
          <a:xfrm flipH="1" flipV="1">
            <a:off x="5676727" y="3972450"/>
            <a:ext cx="12843" cy="390418"/>
          </a:xfrm>
          <a:prstGeom prst="line">
            <a:avLst/>
          </a:prstGeom>
          <a:ln>
            <a:solidFill>
              <a:schemeClr val="tx1">
                <a:lumMod val="65000"/>
              </a:schemeClr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F080A5-94D8-DFCC-7F24-2D5EE3CB4099}"/>
              </a:ext>
            </a:extLst>
          </p:cNvPr>
          <p:cNvSpPr txBox="1"/>
          <p:nvPr/>
        </p:nvSpPr>
        <p:spPr>
          <a:xfrm>
            <a:off x="3435422" y="4498155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SQLite Database </a:t>
            </a:r>
          </a:p>
          <a:p>
            <a:pPr algn="ctr"/>
            <a:endParaRPr lang="en-US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D8467E84-0E6D-F9A7-C081-B9857789E1F7}"/>
              </a:ext>
            </a:extLst>
          </p:cNvPr>
          <p:cNvSpPr/>
          <p:nvPr/>
        </p:nvSpPr>
        <p:spPr>
          <a:xfrm>
            <a:off x="239901" y="4475627"/>
            <a:ext cx="1078992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800" b="1">
                <a:latin typeface="Calibri"/>
                <a:ea typeface="Calibri"/>
                <a:cs typeface="Calibri"/>
              </a:rPr>
              <a:t>DATA LAYER</a:t>
            </a:r>
            <a:endParaRPr lang="en-US" sz="8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DAA1B584-0A41-0621-18B1-3C1D22DA3858}"/>
              </a:ext>
            </a:extLst>
          </p:cNvPr>
          <p:cNvSpPr/>
          <p:nvPr/>
        </p:nvSpPr>
        <p:spPr>
          <a:xfrm>
            <a:off x="926471" y="4060860"/>
            <a:ext cx="210312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850">
                <a:latin typeface="Calibri"/>
                <a:ea typeface="Calibri"/>
                <a:cs typeface="Calibri"/>
              </a:rPr>
              <a:t>Execute SQL Queries</a:t>
            </a: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7C9064FB-D3BE-B4BD-EBC0-ABB881C507FC}"/>
              </a:ext>
            </a:extLst>
          </p:cNvPr>
          <p:cNvSpPr/>
          <p:nvPr/>
        </p:nvSpPr>
        <p:spPr>
          <a:xfrm>
            <a:off x="5363622" y="4060859"/>
            <a:ext cx="210312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850">
                <a:latin typeface="Calibri"/>
                <a:ea typeface="Calibri"/>
                <a:cs typeface="Calibri"/>
              </a:rPr>
              <a:t>Return Structured Rows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8559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romaDB Dual-Memory Flo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4229" y="47259"/>
            <a:ext cx="82296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 Black"/>
              </a:rPr>
              <a:t>ChromaDB</a:t>
            </a:r>
            <a:r>
              <a:rPr lang="en-US" sz="2800" b="1" dirty="0">
                <a:solidFill>
                  <a:srgbClr val="FFFFFF"/>
                </a:solidFill>
                <a:latin typeface="Arial Black"/>
              </a:rPr>
              <a:t> Dual-Memory Flow</a:t>
            </a:r>
          </a:p>
        </p:txBody>
      </p:sp>
      <p:sp>
        <p:nvSpPr>
          <p:cNvPr id="3" name="GreenBar"/>
          <p:cNvSpPr/>
          <p:nvPr/>
        </p:nvSpPr>
        <p:spPr>
          <a:xfrm flipH="1" flipV="1">
            <a:off x="424229" y="147345"/>
            <a:ext cx="49456" cy="84025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446210" y="544757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Parallel short-term and long-term context retrieval merging into unified LLM state.</a:t>
            </a:r>
          </a:p>
        </p:txBody>
      </p:sp>
      <p:sp>
        <p:nvSpPr>
          <p:cNvPr id="5" name="UserMsg"/>
          <p:cNvSpPr/>
          <p:nvPr/>
        </p:nvSpPr>
        <p:spPr>
          <a:xfrm>
            <a:off x="683602" y="996463"/>
            <a:ext cx="1779344" cy="440714"/>
          </a:xfrm>
          <a:prstGeom prst="roundRect">
            <a:avLst>
              <a:gd name="adj" fmla="val 50000"/>
            </a:avLst>
          </a:prstGeom>
          <a:solidFill>
            <a:srgbClr val="1E2D45">
              <a:alpha val="90000"/>
            </a:srgbClr>
          </a:solidFill>
          <a:ln w="19050">
            <a:solidFill>
              <a:srgbClr val="6474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USER SENDS MESSAGE</a:t>
            </a:r>
          </a:p>
        </p:txBody>
      </p:sp>
      <p:sp>
        <p:nvSpPr>
          <p:cNvPr id="7" name="AgentRunner"/>
          <p:cNvSpPr/>
          <p:nvPr/>
        </p:nvSpPr>
        <p:spPr>
          <a:xfrm>
            <a:off x="3050930" y="910737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2857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</a:rPr>
              <a:t>🤖  AGENT RUNNER STARTS</a:t>
            </a:r>
          </a:p>
        </p:txBody>
      </p:sp>
      <p:sp>
        <p:nvSpPr>
          <p:cNvPr id="11" name="Layer1"/>
          <p:cNvSpPr/>
          <p:nvPr/>
        </p:nvSpPr>
        <p:spPr>
          <a:xfrm>
            <a:off x="436686" y="1777658"/>
            <a:ext cx="2970702" cy="1143000"/>
          </a:xfrm>
          <a:prstGeom prst="roundRect">
            <a:avLst>
              <a:gd name="adj" fmla="val 8000"/>
            </a:avLst>
          </a:prstGeom>
          <a:solidFill>
            <a:srgbClr val="0D1526"/>
          </a:solidFill>
          <a:ln w="28575">
            <a:solidFill>
              <a:srgbClr val="10B981"/>
            </a:solidFill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Layer 1: Short-term Memory (SQL)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CBD5E1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Table: </a:t>
            </a:r>
            <a:r>
              <a:rPr lang="en-US" sz="1000" b="0" dirty="0" err="1">
                <a:solidFill>
                  <a:srgbClr val="CBD5E1"/>
                </a:solidFill>
                <a:latin typeface="Calibri"/>
              </a:rPr>
              <a:t>chat_memories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Query: </a:t>
            </a:r>
            <a:r>
              <a:rPr lang="en-US" sz="1000" b="0" dirty="0">
                <a:solidFill>
                  <a:srgbClr val="CBD5E1"/>
                </a:solidFill>
                <a:latin typeface="Calibri"/>
              </a:rPr>
              <a:t>Last 10 </a:t>
            </a:r>
            <a:r>
              <a:rPr lang="en-US" sz="1000" b="0" dirty="0" err="1">
                <a:solidFill>
                  <a:srgbClr val="CBD5E1"/>
                </a:solidFill>
                <a:latin typeface="Calibri"/>
              </a:rPr>
              <a:t>msgs</a:t>
            </a:r>
            <a:r>
              <a:rPr lang="en-US" sz="1000" b="0" dirty="0">
                <a:solidFill>
                  <a:srgbClr val="CBD5E1"/>
                </a:solidFill>
                <a:latin typeface="Calibri"/>
              </a:rPr>
              <a:t> (</a:t>
            </a:r>
            <a:r>
              <a:rPr lang="en-US" sz="1000" b="0" dirty="0" err="1">
                <a:solidFill>
                  <a:srgbClr val="CBD5E1"/>
                </a:solidFill>
                <a:latin typeface="Calibri"/>
              </a:rPr>
              <a:t>user_id</a:t>
            </a:r>
            <a:r>
              <a:rPr lang="en-US" sz="1000" b="0" dirty="0">
                <a:solidFill>
                  <a:srgbClr val="CBD5E1"/>
                </a:solidFill>
                <a:latin typeface="Calibri"/>
              </a:rPr>
              <a:t> + </a:t>
            </a:r>
            <a:r>
              <a:rPr lang="en-US" sz="1000" b="0" dirty="0" err="1">
                <a:solidFill>
                  <a:srgbClr val="CBD5E1"/>
                </a:solidFill>
                <a:latin typeface="Calibri"/>
              </a:rPr>
              <a:t>session_id</a:t>
            </a:r>
            <a:r>
              <a:rPr lang="en-US" sz="1000" b="0" dirty="0">
                <a:solidFill>
                  <a:srgbClr val="CBD5E1"/>
                </a:solidFill>
                <a:latin typeface="Calibri"/>
              </a:rPr>
              <a:t>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Returns: </a:t>
            </a:r>
            <a:r>
              <a:rPr lang="en-US" sz="1000" b="0" dirty="0">
                <a:solidFill>
                  <a:srgbClr val="CBD5E1"/>
                </a:solidFill>
                <a:latin typeface="Calibri"/>
              </a:rPr>
              <a:t>Exact context of current conversation</a:t>
            </a:r>
          </a:p>
          <a:p>
            <a:pPr marL="0" indent="0">
              <a:buNone/>
            </a:pPr>
            <a:r>
              <a:rPr lang="en-US" sz="1000" b="0" i="1" dirty="0">
                <a:solidFill>
                  <a:srgbClr val="10B981"/>
                </a:solidFill>
                <a:latin typeface="Calibri"/>
              </a:rPr>
              <a:t>“What did we just discuss?”</a:t>
            </a:r>
          </a:p>
        </p:txBody>
      </p:sp>
      <p:sp>
        <p:nvSpPr>
          <p:cNvPr id="12" name="Layer2"/>
          <p:cNvSpPr/>
          <p:nvPr/>
        </p:nvSpPr>
        <p:spPr>
          <a:xfrm>
            <a:off x="4988170" y="1777657"/>
            <a:ext cx="3525716" cy="1132011"/>
          </a:xfrm>
          <a:prstGeom prst="roundRect">
            <a:avLst>
              <a:gd name="adj" fmla="val 8000"/>
            </a:avLst>
          </a:prstGeom>
          <a:solidFill>
            <a:srgbClr val="0D1526"/>
          </a:solidFill>
          <a:ln w="28575">
            <a:solidFill>
              <a:srgbClr val="06B6D4"/>
            </a:solidFill>
          </a:ln>
        </p:spPr>
        <p:txBody>
          <a:bodyPr wrap="square" lIns="182880" tIns="91440" rIns="182880" bIns="91440" rtlCol="0" anchor="t"/>
          <a:lstStyle/>
          <a:p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Layer 2: Long-term Memory (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ChromaDB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CBD5E1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Collection: </a:t>
            </a:r>
            <a:r>
              <a:rPr lang="en-US" sz="1000" b="0" dirty="0">
                <a:solidFill>
                  <a:srgbClr val="CBD5E1"/>
                </a:solidFill>
                <a:latin typeface="Calibri"/>
              </a:rPr>
              <a:t>“user_{id}_memories” (Isolated)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Embedding: </a:t>
            </a:r>
            <a:r>
              <a:rPr lang="en-US" sz="1000" b="0" dirty="0">
                <a:solidFill>
                  <a:srgbClr val="CBD5E1"/>
                </a:solidFill>
                <a:latin typeface="Calibri"/>
              </a:rPr>
              <a:t>Msg to vector → Semantic Search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Returns: </a:t>
            </a:r>
            <a:r>
              <a:rPr lang="en-US" sz="1000" b="0" dirty="0">
                <a:solidFill>
                  <a:srgbClr val="CBD5E1"/>
                </a:solidFill>
                <a:latin typeface="Calibri"/>
              </a:rPr>
              <a:t>Top 3 most relevant past responses</a:t>
            </a:r>
          </a:p>
          <a:p>
            <a:pPr marL="0" indent="0">
              <a:buNone/>
            </a:pPr>
            <a:r>
              <a:rPr lang="en-US" sz="1000" b="0" i="1" dirty="0">
                <a:solidFill>
                  <a:srgbClr val="06B6D4"/>
                </a:solidFill>
                <a:latin typeface="Calibri"/>
              </a:rPr>
              <a:t>“What did we discuss weeks/months ago?”</a:t>
            </a:r>
          </a:p>
        </p:txBody>
      </p:sp>
      <p:sp>
        <p:nvSpPr>
          <p:cNvPr id="14" name="CombinedCtx"/>
          <p:cNvSpPr/>
          <p:nvPr/>
        </p:nvSpPr>
        <p:spPr>
          <a:xfrm>
            <a:off x="2828559" y="3176514"/>
            <a:ext cx="2973632" cy="460717"/>
          </a:xfrm>
          <a:prstGeom prst="roundRect">
            <a:avLst>
              <a:gd name="adj" fmla="val 8000"/>
            </a:avLst>
          </a:prstGeom>
          <a:solidFill>
            <a:srgbClr val="0A1929">
              <a:alpha val="85000"/>
            </a:srgbClr>
          </a:solidFill>
          <a:ln w="19050" cmpd="sng">
            <a:solidFill>
              <a:srgbClr val="3B82F6"/>
            </a:solidFill>
            <a:prstDash val="dash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 Black"/>
              </a:rPr>
              <a:t>COMBINED LLM CONTEXT</a:t>
            </a:r>
          </a:p>
          <a:p>
            <a:pPr marL="0" indent="0" algn="ctr">
              <a:buNone/>
            </a:pPr>
            <a:r>
              <a:rPr lang="en-US" sz="900" b="0" dirty="0">
                <a:solidFill>
                  <a:srgbClr val="94A3B8"/>
                </a:solidFill>
                <a:latin typeface="Calibri" pitchFamily="34" charset="0"/>
              </a:rPr>
              <a:t>Sys Prompt + Long-term + Short-term + New Msg</a:t>
            </a:r>
          </a:p>
        </p:txBody>
      </p:sp>
      <p:sp>
        <p:nvSpPr>
          <p:cNvPr id="16" name="GroqLLM"/>
          <p:cNvSpPr/>
          <p:nvPr/>
        </p:nvSpPr>
        <p:spPr>
          <a:xfrm>
            <a:off x="3237768" y="3892575"/>
            <a:ext cx="2160711" cy="334328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28575">
            <a:solidFill>
              <a:srgbClr val="3B82F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</a:rPr>
              <a:t>⚙  GROQ LLM (8b)</a:t>
            </a:r>
          </a:p>
        </p:txBody>
      </p:sp>
      <p:sp>
        <p:nvSpPr>
          <p:cNvPr id="17" name="AfterResp"/>
          <p:cNvSpPr/>
          <p:nvPr/>
        </p:nvSpPr>
        <p:spPr>
          <a:xfrm>
            <a:off x="3403722" y="4501661"/>
            <a:ext cx="1828800" cy="213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  <a:ea typeface="Calibri"/>
                <a:cs typeface="Calibri"/>
              </a:rPr>
              <a:t>After Response Generated</a:t>
            </a:r>
          </a:p>
        </p:txBody>
      </p:sp>
      <p:sp>
        <p:nvSpPr>
          <p:cNvPr id="21" name="SaveSQL"/>
          <p:cNvSpPr/>
          <p:nvPr/>
        </p:nvSpPr>
        <p:spPr>
          <a:xfrm>
            <a:off x="475151" y="4228667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0D1526"/>
          </a:solidFill>
          <a:ln w="19050">
            <a:solidFill>
              <a:srgbClr val="10B98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Save new </a:t>
            </a:r>
            <a:r>
              <a:rPr lang="en-US" sz="1000" b="1" dirty="0" err="1">
                <a:solidFill>
                  <a:srgbClr val="FFFFFF"/>
                </a:solidFill>
                <a:latin typeface="Calibri"/>
              </a:rPr>
              <a:t>msgs</a:t>
            </a:r>
            <a:r>
              <a:rPr lang="en-US" sz="1000" b="1" dirty="0">
                <a:solidFill>
                  <a:srgbClr val="FFFFFF"/>
                </a:solidFill>
                <a:latin typeface="Calibri"/>
              </a:rPr>
              <a:t> to </a:t>
            </a:r>
            <a:r>
              <a:rPr lang="en-US" sz="1000" b="1" dirty="0" err="1">
                <a:solidFill>
                  <a:srgbClr val="FFFFFF"/>
                </a:solidFill>
                <a:latin typeface="Calibri"/>
              </a:rPr>
              <a:t>chat_memories</a:t>
            </a:r>
            <a:r>
              <a:rPr lang="en-US" sz="1000" b="1" dirty="0">
                <a:solidFill>
                  <a:srgbClr val="FFFFFF"/>
                </a:solidFill>
                <a:latin typeface="Calibri"/>
              </a:rPr>
              <a:t> (SQL)</a:t>
            </a:r>
          </a:p>
        </p:txBody>
      </p:sp>
      <p:sp>
        <p:nvSpPr>
          <p:cNvPr id="22" name="SaveChroma"/>
          <p:cNvSpPr/>
          <p:nvPr/>
        </p:nvSpPr>
        <p:spPr>
          <a:xfrm>
            <a:off x="6403131" y="4228667"/>
            <a:ext cx="2133600" cy="548640"/>
          </a:xfrm>
          <a:prstGeom prst="roundRect">
            <a:avLst>
              <a:gd name="adj" fmla="val 8000"/>
            </a:avLst>
          </a:prstGeom>
          <a:solidFill>
            <a:srgbClr val="0D1526"/>
          </a:solidFill>
          <a:ln w="19050">
            <a:solidFill>
              <a:srgbClr val="06B6D4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Save AI response embedding to </a:t>
            </a:r>
            <a:r>
              <a:rPr lang="en-US" sz="1000" b="1" dirty="0" err="1">
                <a:solidFill>
                  <a:srgbClr val="FFFFFF"/>
                </a:solidFill>
                <a:latin typeface="Calibri"/>
              </a:rPr>
              <a:t>ChromaDB</a:t>
            </a:r>
            <a:endParaRPr lang="en-US" sz="1000" b="1" dirty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2AF959-C068-D8D9-66DC-8EDB6D783E1D}"/>
              </a:ext>
            </a:extLst>
          </p:cNvPr>
          <p:cNvCxnSpPr/>
          <p:nvPr/>
        </p:nvCxnSpPr>
        <p:spPr>
          <a:xfrm flipV="1">
            <a:off x="2469173" y="1201615"/>
            <a:ext cx="564171" cy="7327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B32B40F-775F-0EBB-1DE3-D034B33544EF}"/>
              </a:ext>
            </a:extLst>
          </p:cNvPr>
          <p:cNvCxnSpPr>
            <a:cxnSpLocks/>
          </p:cNvCxnSpPr>
          <p:nvPr/>
        </p:nvCxnSpPr>
        <p:spPr>
          <a:xfrm flipH="1">
            <a:off x="4297238" y="3643312"/>
            <a:ext cx="5493" cy="230798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86ED124-6CE0-1B66-4D3B-02370BF1962C}"/>
              </a:ext>
            </a:extLst>
          </p:cNvPr>
          <p:cNvCxnSpPr/>
          <p:nvPr/>
        </p:nvCxnSpPr>
        <p:spPr>
          <a:xfrm>
            <a:off x="2439865" y="1593606"/>
            <a:ext cx="4363182" cy="21980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690F3B-D8A6-F4F1-6793-E9E8A6B1F1B2}"/>
              </a:ext>
            </a:extLst>
          </p:cNvPr>
          <p:cNvCxnSpPr/>
          <p:nvPr/>
        </p:nvCxnSpPr>
        <p:spPr>
          <a:xfrm flipH="1">
            <a:off x="4341201" y="1476373"/>
            <a:ext cx="3664" cy="124558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769C56-C330-5D38-01E5-38C5CD455240}"/>
              </a:ext>
            </a:extLst>
          </p:cNvPr>
          <p:cNvCxnSpPr>
            <a:cxnSpLocks/>
          </p:cNvCxnSpPr>
          <p:nvPr/>
        </p:nvCxnSpPr>
        <p:spPr>
          <a:xfrm>
            <a:off x="2249364" y="3011366"/>
            <a:ext cx="4582991" cy="16484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5F55DB0-F140-E4BD-56BE-81F38C71CF47}"/>
              </a:ext>
            </a:extLst>
          </p:cNvPr>
          <p:cNvCxnSpPr>
            <a:cxnSpLocks/>
          </p:cNvCxnSpPr>
          <p:nvPr/>
        </p:nvCxnSpPr>
        <p:spPr>
          <a:xfrm>
            <a:off x="6804875" y="1608260"/>
            <a:ext cx="2" cy="159361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53C1994-7CF1-724B-0C3A-CC81FF7FEC2C}"/>
              </a:ext>
            </a:extLst>
          </p:cNvPr>
          <p:cNvCxnSpPr>
            <a:cxnSpLocks/>
          </p:cNvCxnSpPr>
          <p:nvPr/>
        </p:nvCxnSpPr>
        <p:spPr>
          <a:xfrm>
            <a:off x="2454514" y="1599100"/>
            <a:ext cx="2" cy="181342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24C7174-4718-880B-EC4D-21D9538567D5}"/>
              </a:ext>
            </a:extLst>
          </p:cNvPr>
          <p:cNvCxnSpPr>
            <a:cxnSpLocks/>
          </p:cNvCxnSpPr>
          <p:nvPr/>
        </p:nvCxnSpPr>
        <p:spPr>
          <a:xfrm>
            <a:off x="2249362" y="2941758"/>
            <a:ext cx="0" cy="73269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C7BB848-2B4D-EAB0-5CCB-803899143669}"/>
              </a:ext>
            </a:extLst>
          </p:cNvPr>
          <p:cNvCxnSpPr>
            <a:cxnSpLocks/>
          </p:cNvCxnSpPr>
          <p:nvPr/>
        </p:nvCxnSpPr>
        <p:spPr>
          <a:xfrm>
            <a:off x="6821363" y="2908788"/>
            <a:ext cx="0" cy="120894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EF38833-FC3F-A668-BE3C-DCB57CF37623}"/>
              </a:ext>
            </a:extLst>
          </p:cNvPr>
          <p:cNvCxnSpPr>
            <a:cxnSpLocks/>
          </p:cNvCxnSpPr>
          <p:nvPr/>
        </p:nvCxnSpPr>
        <p:spPr>
          <a:xfrm>
            <a:off x="4295404" y="3016860"/>
            <a:ext cx="1834" cy="164856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7D80EF-FF70-621D-56AC-780A8FB1E4FA}"/>
              </a:ext>
            </a:extLst>
          </p:cNvPr>
          <p:cNvCxnSpPr/>
          <p:nvPr/>
        </p:nvCxnSpPr>
        <p:spPr>
          <a:xfrm flipV="1">
            <a:off x="2304317" y="4478581"/>
            <a:ext cx="4081096" cy="21980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6BB648C-75C5-E02D-9704-CC5791AF889B}"/>
              </a:ext>
            </a:extLst>
          </p:cNvPr>
          <p:cNvCxnSpPr/>
          <p:nvPr/>
        </p:nvCxnSpPr>
        <p:spPr>
          <a:xfrm>
            <a:off x="4304567" y="4234962"/>
            <a:ext cx="0" cy="230798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54864" cy="74980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Renewal Reminder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latin typeface="Calibri"/>
                <a:ea typeface="Calibri"/>
                <a:cs typeface="Calibri"/>
              </a:rPr>
              <a:t>Scheduled reminder system preventing duplicate notifications via SMTP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51870" y="1198992"/>
            <a:ext cx="3624209" cy="1405249"/>
          </a:xfrm>
          <a:prstGeom prst="roundRect">
            <a:avLst>
              <a:gd name="adj" fmla="val 6250"/>
            </a:avLst>
          </a:prstGeom>
          <a:solidFill>
            <a:srgbClr val="06120A"/>
          </a:solidFill>
          <a:ln w="10160">
            <a:solidFill>
              <a:srgbClr val="06B6D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086290" y="1212607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CHECK PHASE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3515" y="1468640"/>
            <a:ext cx="1643557" cy="895136"/>
          </a:xfrm>
          <a:prstGeom prst="roundRect">
            <a:avLst>
              <a:gd name="adj" fmla="val 10000"/>
            </a:avLst>
          </a:prstGeom>
          <a:solidFill>
            <a:srgbClr val="1A1006"/>
          </a:solidFill>
          <a:ln w="19050">
            <a:solidFill>
              <a:srgbClr val="F97316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60" y="1520011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Trigger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824" y="1827567"/>
            <a:ext cx="1810512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Configured interval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916336" y="1912997"/>
            <a:ext cx="384048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300384" y="1449375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091A14"/>
          </a:solidFill>
          <a:ln w="15240">
            <a:solidFill>
              <a:srgbClr val="10B981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10112" y="1355572"/>
            <a:ext cx="1289304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10112" y="1881661"/>
            <a:ext cx="1289304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850" dirty="0">
                <a:latin typeface="Calibri"/>
                <a:ea typeface="Calibri"/>
                <a:cs typeface="Calibri"/>
              </a:rPr>
              <a:t>Scans renewals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15565" y="1912996"/>
            <a:ext cx="388928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178809" y="1494324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0A1929"/>
          </a:solidFill>
          <a:ln w="15240">
            <a:solidFill>
              <a:srgbClr val="06B6D4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30744" y="1355572"/>
            <a:ext cx="1289304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SQLite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88536" y="1881661"/>
            <a:ext cx="1289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renewals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93989" y="1951525"/>
            <a:ext cx="292608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973755" y="1462218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091529"/>
          </a:solidFill>
          <a:ln w="15240">
            <a:solidFill>
              <a:srgbClr val="3B82F6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51376" y="1445471"/>
            <a:ext cx="1289304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reminder_log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3483" y="1913767"/>
            <a:ext cx="1289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duplicates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42826" y="2620630"/>
            <a:ext cx="12843" cy="231477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5972624" y="2864949"/>
            <a:ext cx="1668832" cy="831899"/>
          </a:xfrm>
          <a:prstGeom prst="roundRect">
            <a:avLst>
              <a:gd name="adj" fmla="val 10204"/>
            </a:avLst>
          </a:prstGeom>
          <a:solidFill>
            <a:srgbClr val="2A091A"/>
          </a:solidFill>
          <a:ln w="19050">
            <a:solidFill>
              <a:srgbClr val="EC4899"/>
            </a:solidFill>
            <a:prstDash val="dash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18512" y="2948426"/>
            <a:ext cx="1938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12091" y="3323125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check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92827" y="3351533"/>
            <a:ext cx="402336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7636987" y="3082453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01584" y="2871370"/>
            <a:ext cx="841248" cy="896112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5163" y="2852106"/>
            <a:ext cx="8412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729984" y="3696847"/>
            <a:ext cx="0" cy="34747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6784848" y="376748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81018" y="4054396"/>
            <a:ext cx="5886322" cy="882918"/>
          </a:xfrm>
          <a:prstGeom prst="roundRect">
            <a:avLst>
              <a:gd name="adj" fmla="val 14286"/>
            </a:avLst>
          </a:prstGeom>
          <a:solidFill>
            <a:srgbClr val="060A12"/>
          </a:solidFill>
          <a:ln w="10160">
            <a:solidFill>
              <a:srgbClr val="10B981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944641" y="4041391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EXECUTION PHASE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14098" y="4256051"/>
            <a:ext cx="1508760" cy="585216"/>
          </a:xfrm>
          <a:prstGeom prst="roundRect">
            <a:avLst>
              <a:gd name="adj" fmla="val 18750"/>
            </a:avLst>
          </a:prstGeom>
          <a:solidFill>
            <a:srgbClr val="13092A"/>
          </a:solidFill>
          <a:ln w="15240">
            <a:solidFill>
              <a:srgbClr val="8B5CF6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15589" y="4244922"/>
            <a:ext cx="1289304" cy="3043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Email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34853" y="4512903"/>
            <a:ext cx="1289304" cy="2340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850" dirty="0">
                <a:latin typeface="Calibri"/>
                <a:ea typeface="Calibri"/>
                <a:cs typeface="Calibri"/>
              </a:rPr>
              <a:t>Format alert template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996955" y="4255248"/>
            <a:ext cx="1691640" cy="585216"/>
          </a:xfrm>
          <a:prstGeom prst="roundRect">
            <a:avLst>
              <a:gd name="adj" fmla="val 18750"/>
            </a:avLst>
          </a:prstGeom>
          <a:solidFill>
            <a:srgbClr val="091A14"/>
          </a:solidFill>
          <a:ln w="15240">
            <a:solidFill>
              <a:srgbClr val="10B981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087419" y="4244922"/>
            <a:ext cx="1472184" cy="3043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 (SMTP)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38790" y="4512903"/>
            <a:ext cx="1472184" cy="2340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173497" y="4274512"/>
            <a:ext cx="1426464" cy="585216"/>
          </a:xfrm>
          <a:prstGeom prst="roundRect">
            <a:avLst>
              <a:gd name="adj" fmla="val 18750"/>
            </a:avLst>
          </a:prstGeom>
          <a:solidFill>
            <a:srgbClr val="091A1A"/>
          </a:solidFill>
          <a:ln w="15240">
            <a:solidFill>
              <a:srgbClr val="0D9488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219012" y="4328400"/>
            <a:ext cx="1207008" cy="3043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Log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283226" y="4596381"/>
            <a:ext cx="1207008" cy="234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sent status</a:t>
            </a:r>
            <a:endParaRPr lang="en-US" sz="85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8D3CA31-A2D8-0B1A-E771-48D4B36CA294}"/>
              </a:ext>
            </a:extLst>
          </p:cNvPr>
          <p:cNvCxnSpPr/>
          <p:nvPr/>
        </p:nvCxnSpPr>
        <p:spPr>
          <a:xfrm flipH="1">
            <a:off x="5721420" y="4546315"/>
            <a:ext cx="340332" cy="6420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71CF26F-E7A4-A509-9650-7F271D9B3CEC}"/>
              </a:ext>
            </a:extLst>
          </p:cNvPr>
          <p:cNvCxnSpPr>
            <a:cxnSpLocks/>
          </p:cNvCxnSpPr>
          <p:nvPr/>
        </p:nvCxnSpPr>
        <p:spPr>
          <a:xfrm flipH="1">
            <a:off x="3640903" y="4527050"/>
            <a:ext cx="340332" cy="6420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Shape 26">
            <a:extLst>
              <a:ext uri="{FF2B5EF4-FFF2-40B4-BE49-F238E27FC236}">
                <a16:creationId xmlns:a16="http://schemas.microsoft.com/office/drawing/2014/main" id="{E0F62E18-6333-DD10-AE39-A27608F9DA8D}"/>
              </a:ext>
            </a:extLst>
          </p:cNvPr>
          <p:cNvSpPr/>
          <p:nvPr/>
        </p:nvSpPr>
        <p:spPr>
          <a:xfrm>
            <a:off x="505128" y="4027212"/>
            <a:ext cx="841248" cy="896112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9AAC1B-AD8F-D9BD-ED49-7C03DE94757C}"/>
              </a:ext>
            </a:extLst>
          </p:cNvPr>
          <p:cNvSpPr txBox="1"/>
          <p:nvPr/>
        </p:nvSpPr>
        <p:spPr>
          <a:xfrm>
            <a:off x="-1361326" y="4247722"/>
            <a:ext cx="4572000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900" b="1">
                <a:solidFill>
                  <a:srgbClr val="FFFFFF"/>
                </a:solidFill>
                <a:latin typeface="Calibri"/>
                <a:ea typeface="Segoe UI"/>
                <a:cs typeface="Segoe UI"/>
              </a:rPr>
              <a:t>END</a:t>
            </a:r>
          </a:p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Segoe UI"/>
                <a:cs typeface="Segoe UI"/>
              </a:rPr>
              <a:t>Workflow</a:t>
            </a:r>
            <a:endParaRPr lang="en-US" sz="900" b="1" baseline="0">
              <a:solidFill>
                <a:srgbClr val="FFFFFF"/>
              </a:solidFill>
              <a:latin typeface="Calibri"/>
              <a:ea typeface="Segoe UI"/>
              <a:cs typeface="Segoe UI"/>
            </a:endParaRPr>
          </a:p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Segoe UI"/>
                <a:cs typeface="Segoe UI"/>
              </a:rPr>
              <a:t>Complete</a:t>
            </a:r>
          </a:p>
          <a:p>
            <a:pPr algn="ctr"/>
            <a:endParaRPr lang="en-US" sz="2400" dirty="0">
              <a:solidFill>
                <a:srgbClr val="FFFFFF"/>
              </a:solidFill>
              <a:latin typeface="Neue Haas Grotesk Text Pro"/>
              <a:ea typeface="Segoe UI"/>
              <a:cs typeface="Segoe UI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67F145B-7BFF-F543-D695-EAB0D8065C29}"/>
              </a:ext>
            </a:extLst>
          </p:cNvPr>
          <p:cNvCxnSpPr>
            <a:cxnSpLocks/>
          </p:cNvCxnSpPr>
          <p:nvPr/>
        </p:nvCxnSpPr>
        <p:spPr>
          <a:xfrm flipH="1">
            <a:off x="1348481" y="4507785"/>
            <a:ext cx="455916" cy="6420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49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54864" cy="74980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Dashboard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latin typeface="Calibri"/>
                <a:ea typeface="Calibri"/>
                <a:cs typeface="Calibri"/>
              </a:rPr>
              <a:t>Core business operations mapping frontend actions to backend services and database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47093" y="2278808"/>
            <a:ext cx="785974" cy="77313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9050">
            <a:solidFill>
              <a:srgbClr val="0D9488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6459" y="2176067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32302" y="2437031"/>
            <a:ext cx="1036149" cy="437423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9050">
            <a:solidFill>
              <a:srgbClr val="0D9488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10296" y="2160912"/>
            <a:ext cx="1280160" cy="818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9560" y="2475867"/>
            <a:ext cx="1260896" cy="536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97280" y="2697480"/>
            <a:ext cx="228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809931" y="1154095"/>
            <a:ext cx="3499121" cy="1428572"/>
          </a:xfrm>
          <a:prstGeom prst="roundRect">
            <a:avLst>
              <a:gd name="adj" fmla="val 5618"/>
            </a:avLst>
          </a:prstGeom>
          <a:solidFill>
            <a:srgbClr val="06121A"/>
          </a:solidFill>
          <a:ln w="12700">
            <a:solidFill>
              <a:srgbClr val="06B6D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907792" y="11612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DATA OPERATIONS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66373" y="1482304"/>
            <a:ext cx="1226017" cy="696639"/>
          </a:xfrm>
          <a:prstGeom prst="roundRect">
            <a:avLst>
              <a:gd name="adj" fmla="val 10714"/>
            </a:avLst>
          </a:prstGeom>
          <a:solidFill>
            <a:srgbClr val="0A1929"/>
          </a:solidFill>
          <a:ln w="15240">
            <a:solidFill>
              <a:srgbClr val="06B6D4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51354" y="1221546"/>
            <a:ext cx="1353312" cy="53254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02725" y="1692400"/>
            <a:ext cx="1353312" cy="4096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Subscriptions, </a:t>
            </a:r>
            <a:endParaRPr lang="en-US" sz="850">
              <a:solidFill>
                <a:srgbClr val="FFFFFF"/>
              </a:solidFill>
              <a:latin typeface="Neue Haas Grotesk Text Pro"/>
              <a:ea typeface="Calibri"/>
              <a:cs typeface="Calibri"/>
            </a:endParaRPr>
          </a:p>
          <a:p>
            <a:pPr algn="ctr"/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dashboard</a:t>
            </a:r>
            <a:endParaRPr lang="en-US" sz="850">
              <a:latin typeface="Neue Haas Grotesk Text Pro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92389" y="1799006"/>
            <a:ext cx="566362" cy="6421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4202491" y="1463760"/>
            <a:ext cx="733317" cy="2480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Call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58752" y="1379562"/>
            <a:ext cx="1181067" cy="889280"/>
          </a:xfrm>
          <a:prstGeom prst="roundRect">
            <a:avLst>
              <a:gd name="adj" fmla="val 10714"/>
            </a:avLst>
          </a:prstGeom>
          <a:solidFill>
            <a:srgbClr val="091A1A"/>
          </a:solidFill>
          <a:ln w="15240">
            <a:solidFill>
              <a:srgbClr val="0D9488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11626" y="1266494"/>
            <a:ext cx="1353312" cy="53254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6575" y="1775877"/>
            <a:ext cx="1353312" cy="4096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subscription_service</a:t>
            </a:r>
            <a:r>
              <a:rPr lang="en-US" sz="8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dashboard_service</a:t>
            </a:r>
            <a:endParaRPr lang="en-US" sz="85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73728" y="1341754"/>
            <a:ext cx="763626" cy="49850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SQL Read/Write</a:t>
            </a:r>
            <a:endParaRPr lang="en-US" sz="75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046757" y="1600100"/>
            <a:ext cx="804672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HTTP / REST</a:t>
            </a:r>
            <a:endParaRPr lang="en-US" sz="75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965960" y="2377440"/>
            <a:ext cx="0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97088" y="2828219"/>
            <a:ext cx="3492700" cy="1255194"/>
          </a:xfrm>
          <a:prstGeom prst="roundRect">
            <a:avLst>
              <a:gd name="adj" fmla="val 5618"/>
            </a:avLst>
          </a:prstGeom>
          <a:solidFill>
            <a:srgbClr val="06121A"/>
          </a:solidFill>
          <a:ln w="12700">
            <a:solidFill>
              <a:srgbClr val="8B5CF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2907792" y="28803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 OPERATIONS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004834" y="3147248"/>
            <a:ext cx="1097673" cy="606740"/>
          </a:xfrm>
          <a:prstGeom prst="roundRect">
            <a:avLst>
              <a:gd name="adj" fmla="val 10714"/>
            </a:avLst>
          </a:prstGeom>
          <a:solidFill>
            <a:srgbClr val="130C2A"/>
          </a:solidFill>
          <a:ln w="15240">
            <a:solidFill>
              <a:srgbClr val="8B5CF6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816506" y="2882826"/>
            <a:ext cx="1353312" cy="53254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SSE Route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77978" y="3366522"/>
            <a:ext cx="1353312" cy="4096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endParaRPr lang="en-US" sz="850" dirty="0">
              <a:solidFill>
                <a:srgbClr val="94A3B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157540" y="3412613"/>
            <a:ext cx="701211" cy="6421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4099748" y="312873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Agent Loop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58753" y="3008735"/>
            <a:ext cx="1026953" cy="748011"/>
          </a:xfrm>
          <a:prstGeom prst="roundRect">
            <a:avLst>
              <a:gd name="adj" fmla="val 10714"/>
            </a:avLst>
          </a:prstGeom>
          <a:solidFill>
            <a:srgbClr val="130C2A"/>
          </a:solidFill>
          <a:ln w="15240">
            <a:solidFill>
              <a:srgbClr val="7C3AED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92362" y="2818613"/>
            <a:ext cx="1353312" cy="53254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86969" y="3366522"/>
            <a:ext cx="1353312" cy="4096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MCP Execution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73727" y="3456227"/>
            <a:ext cx="731520" cy="3893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SQL Read Only</a:t>
            </a:r>
            <a:endParaRPr lang="en-US" sz="750">
              <a:latin typeface="Calibri"/>
              <a:ea typeface="Calibri"/>
              <a:cs typeface="Calibr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969504" y="3137728"/>
            <a:ext cx="914400" cy="164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SSE Stream</a:t>
            </a:r>
            <a:endParaRPr lang="en-US" sz="750">
              <a:latin typeface="Calibri"/>
              <a:ea typeface="Calibri"/>
              <a:cs typeface="Calibri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633472" y="3419856"/>
            <a:ext cx="0" cy="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00661" y="2094182"/>
            <a:ext cx="1423434" cy="940445"/>
          </a:xfrm>
          <a:prstGeom prst="roundRect">
            <a:avLst>
              <a:gd name="adj" fmla="val 4386"/>
            </a:avLst>
          </a:prstGeom>
          <a:solidFill>
            <a:srgbClr val="2A091A"/>
          </a:solidFill>
          <a:ln w="22860">
            <a:solidFill>
              <a:srgbClr val="EC4899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986016" y="2199440"/>
            <a:ext cx="2084832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800" dirty="0">
              <a:solidFill>
                <a:srgbClr val="EC489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986016" y="1502339"/>
            <a:ext cx="2097675" cy="1812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86016" y="2410009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subscriptions,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reminder_log</a:t>
            </a:r>
            <a:endParaRPr lang="en-US" sz="850" dirty="0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B89A8A2-A24E-4F90-113D-D5BB14D67068}"/>
              </a:ext>
            </a:extLst>
          </p:cNvPr>
          <p:cNvCxnSpPr/>
          <p:nvPr/>
        </p:nvCxnSpPr>
        <p:spPr>
          <a:xfrm>
            <a:off x="2373264" y="2660289"/>
            <a:ext cx="616242" cy="77780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9417AF7C-9043-F2DA-695B-1E473A6F6AB2}"/>
              </a:ext>
            </a:extLst>
          </p:cNvPr>
          <p:cNvCxnSpPr/>
          <p:nvPr/>
        </p:nvCxnSpPr>
        <p:spPr>
          <a:xfrm flipV="1">
            <a:off x="5907640" y="2812550"/>
            <a:ext cx="1367748" cy="648554"/>
          </a:xfrm>
          <a:prstGeom prst="bentConnector3">
            <a:avLst/>
          </a:prstGeom>
          <a:ln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8EBEDE1-6A54-8F3A-9BD0-867D1BF7A5D2}"/>
              </a:ext>
            </a:extLst>
          </p:cNvPr>
          <p:cNvCxnSpPr/>
          <p:nvPr/>
        </p:nvCxnSpPr>
        <p:spPr>
          <a:xfrm>
            <a:off x="6048910" y="1836505"/>
            <a:ext cx="1220056" cy="603606"/>
          </a:xfrm>
          <a:prstGeom prst="bentConnector3">
            <a:avLst/>
          </a:prstGeom>
          <a:ln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9CBD0C43-DF92-322D-555A-FEBC1623D554}"/>
              </a:ext>
            </a:extLst>
          </p:cNvPr>
          <p:cNvCxnSpPr/>
          <p:nvPr/>
        </p:nvCxnSpPr>
        <p:spPr>
          <a:xfrm flipV="1">
            <a:off x="2375900" y="1855769"/>
            <a:ext cx="635712" cy="80266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0F644-F689-67DA-02AE-C41764948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">
            <a:extLst>
              <a:ext uri="{FF2B5EF4-FFF2-40B4-BE49-F238E27FC236}">
                <a16:creationId xmlns:a16="http://schemas.microsoft.com/office/drawing/2014/main" id="{9086D0E4-F491-6F01-969D-5C08EF3E7BF0}"/>
              </a:ext>
            </a:extLst>
          </p:cNvPr>
          <p:cNvSpPr/>
          <p:nvPr/>
        </p:nvSpPr>
        <p:spPr>
          <a:xfrm>
            <a:off x="457200" y="180000"/>
            <a:ext cx="112776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FFFF"/>
                </a:solidFill>
                <a:latin typeface="Arial"/>
              </a:rPr>
              <a:t>Authentication Flow Diagram</a:t>
            </a:r>
          </a:p>
        </p:txBody>
      </p:sp>
      <p:sp>
        <p:nvSpPr>
          <p:cNvPr id="34" name="Sub">
            <a:extLst>
              <a:ext uri="{FF2B5EF4-FFF2-40B4-BE49-F238E27FC236}">
                <a16:creationId xmlns:a16="http://schemas.microsoft.com/office/drawing/2014/main" id="{9A4BB426-7DC0-B944-AC9D-9E878F91ED6D}"/>
              </a:ext>
            </a:extLst>
          </p:cNvPr>
          <p:cNvSpPr/>
          <p:nvPr/>
        </p:nvSpPr>
        <p:spPr>
          <a:xfrm>
            <a:off x="457200" y="780000"/>
            <a:ext cx="112776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Arial"/>
              </a:rPr>
              <a:t>Secure sequence flows for user registration, login, and JWT-based protected route access.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35" name="RegBar">
            <a:extLst>
              <a:ext uri="{FF2B5EF4-FFF2-40B4-BE49-F238E27FC236}">
                <a16:creationId xmlns:a16="http://schemas.microsoft.com/office/drawing/2014/main" id="{9EE36810-88D5-4073-87FD-211D41757608}"/>
              </a:ext>
            </a:extLst>
          </p:cNvPr>
          <p:cNvSpPr/>
          <p:nvPr/>
        </p:nvSpPr>
        <p:spPr>
          <a:xfrm>
            <a:off x="332642" y="1228019"/>
            <a:ext cx="60960" cy="115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36" name="RegLbl">
            <a:extLst>
              <a:ext uri="{FF2B5EF4-FFF2-40B4-BE49-F238E27FC236}">
                <a16:creationId xmlns:a16="http://schemas.microsoft.com/office/drawing/2014/main" id="{17C4C495-4EE4-33E4-576B-B7AB1365DF04}"/>
              </a:ext>
            </a:extLst>
          </p:cNvPr>
          <p:cNvSpPr/>
          <p:nvPr/>
        </p:nvSpPr>
        <p:spPr>
          <a:xfrm>
            <a:off x="387519" y="1228019"/>
            <a:ext cx="1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latin typeface="Arial"/>
              </a:rPr>
              <a:t>REGISTER FLOW</a:t>
            </a:r>
          </a:p>
        </p:txBody>
      </p:sp>
      <p:sp>
        <p:nvSpPr>
          <p:cNvPr id="37" name="R1">
            <a:extLst>
              <a:ext uri="{FF2B5EF4-FFF2-40B4-BE49-F238E27FC236}">
                <a16:creationId xmlns:a16="http://schemas.microsoft.com/office/drawing/2014/main" id="{4F875213-DB71-5A21-BC44-6C1FD868E1E4}"/>
              </a:ext>
            </a:extLst>
          </p:cNvPr>
          <p:cNvSpPr/>
          <p:nvPr/>
        </p:nvSpPr>
        <p:spPr>
          <a:xfrm>
            <a:off x="486730" y="1533366"/>
            <a:ext cx="1042664" cy="470394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 w="19050">
            <a:solidFill>
              <a:srgbClr val="484F58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Browser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POST /register</a:t>
            </a:r>
          </a:p>
        </p:txBody>
      </p:sp>
      <p:sp>
        <p:nvSpPr>
          <p:cNvPr id="38" name="R2">
            <a:extLst>
              <a:ext uri="{FF2B5EF4-FFF2-40B4-BE49-F238E27FC236}">
                <a16:creationId xmlns:a16="http://schemas.microsoft.com/office/drawing/2014/main" id="{30153152-37A7-7B6E-9AC6-5AEBC464F42E}"/>
              </a:ext>
            </a:extLst>
          </p:cNvPr>
          <p:cNvSpPr/>
          <p:nvPr/>
        </p:nvSpPr>
        <p:spPr>
          <a:xfrm>
            <a:off x="1846625" y="1526039"/>
            <a:ext cx="1042664" cy="477721"/>
          </a:xfrm>
          <a:prstGeom prst="roundRect">
            <a:avLst>
              <a:gd name="adj" fmla="val 20000"/>
            </a:avLst>
          </a:prstGeom>
          <a:solidFill>
            <a:srgbClr val="1F4A2D"/>
          </a:solidFill>
          <a:ln w="19050">
            <a:solidFill>
              <a:srgbClr val="3FB950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FastAPI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Pydantic Validate</a:t>
            </a:r>
          </a:p>
        </p:txBody>
      </p:sp>
      <p:sp>
        <p:nvSpPr>
          <p:cNvPr id="39" name="R3">
            <a:extLst>
              <a:ext uri="{FF2B5EF4-FFF2-40B4-BE49-F238E27FC236}">
                <a16:creationId xmlns:a16="http://schemas.microsoft.com/office/drawing/2014/main" id="{883CBA5A-BD17-6132-125B-B93CE76E3C6F}"/>
              </a:ext>
            </a:extLst>
          </p:cNvPr>
          <p:cNvSpPr/>
          <p:nvPr/>
        </p:nvSpPr>
        <p:spPr>
          <a:xfrm>
            <a:off x="3199193" y="1529702"/>
            <a:ext cx="1119597" cy="470395"/>
          </a:xfrm>
          <a:prstGeom prst="roundRect">
            <a:avLst>
              <a:gd name="adj" fmla="val 20000"/>
            </a:avLst>
          </a:prstGeom>
          <a:solidFill>
            <a:srgbClr val="4A1A1A"/>
          </a:solidFill>
          <a:ln w="19050">
            <a:solidFill>
              <a:srgbClr val="C0392B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Security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bcrypt.hash(pwd)</a:t>
            </a:r>
          </a:p>
        </p:txBody>
      </p:sp>
      <p:sp>
        <p:nvSpPr>
          <p:cNvPr id="40" name="R4">
            <a:extLst>
              <a:ext uri="{FF2B5EF4-FFF2-40B4-BE49-F238E27FC236}">
                <a16:creationId xmlns:a16="http://schemas.microsoft.com/office/drawing/2014/main" id="{4C8BBAA6-87FD-13A4-2DF3-7DB5FC83A228}"/>
              </a:ext>
            </a:extLst>
          </p:cNvPr>
          <p:cNvSpPr/>
          <p:nvPr/>
        </p:nvSpPr>
        <p:spPr>
          <a:xfrm>
            <a:off x="4636019" y="1540692"/>
            <a:ext cx="1207520" cy="474059"/>
          </a:xfrm>
          <a:prstGeom prst="roundRect">
            <a:avLst>
              <a:gd name="adj" fmla="val 20000"/>
            </a:avLst>
          </a:prstGeom>
          <a:solidFill>
            <a:srgbClr val="1A2A4A"/>
          </a:solidFill>
          <a:ln w="19050">
            <a:solidFill>
              <a:srgbClr val="1F6FEB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Database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Save User Record</a:t>
            </a:r>
          </a:p>
        </p:txBody>
      </p:sp>
      <p:sp>
        <p:nvSpPr>
          <p:cNvPr id="41" name="R5">
            <a:extLst>
              <a:ext uri="{FF2B5EF4-FFF2-40B4-BE49-F238E27FC236}">
                <a16:creationId xmlns:a16="http://schemas.microsoft.com/office/drawing/2014/main" id="{8DE7C743-2579-144E-BA7B-B2C392B3CD25}"/>
              </a:ext>
            </a:extLst>
          </p:cNvPr>
          <p:cNvSpPr/>
          <p:nvPr/>
        </p:nvSpPr>
        <p:spPr>
          <a:xfrm>
            <a:off x="6160769" y="1537029"/>
            <a:ext cx="1068308" cy="485048"/>
          </a:xfrm>
          <a:prstGeom prst="roundRect">
            <a:avLst>
              <a:gd name="adj" fmla="val 20000"/>
            </a:avLst>
          </a:prstGeom>
          <a:solidFill>
            <a:srgbClr val="2A1A4A"/>
          </a:solidFill>
          <a:ln w="19050">
            <a:solidFill>
              <a:srgbClr val="8957E5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Auth Token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Generate JWT</a:t>
            </a:r>
          </a:p>
        </p:txBody>
      </p:sp>
      <p:sp>
        <p:nvSpPr>
          <p:cNvPr id="42" name="R6">
            <a:extLst>
              <a:ext uri="{FF2B5EF4-FFF2-40B4-BE49-F238E27FC236}">
                <a16:creationId xmlns:a16="http://schemas.microsoft.com/office/drawing/2014/main" id="{E41217F4-55E2-D272-DD3C-33C0E21A4D70}"/>
              </a:ext>
            </a:extLst>
          </p:cNvPr>
          <p:cNvSpPr/>
          <p:nvPr/>
        </p:nvSpPr>
        <p:spPr>
          <a:xfrm>
            <a:off x="7549971" y="1540692"/>
            <a:ext cx="1057318" cy="492376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8B949E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Success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{access_token}</a:t>
            </a:r>
          </a:p>
        </p:txBody>
      </p:sp>
      <p:sp>
        <p:nvSpPr>
          <p:cNvPr id="43" name="Arr">
            <a:extLst>
              <a:ext uri="{FF2B5EF4-FFF2-40B4-BE49-F238E27FC236}">
                <a16:creationId xmlns:a16="http://schemas.microsoft.com/office/drawing/2014/main" id="{4B19FA49-0D09-B272-C9A2-997A151AC494}"/>
              </a:ext>
            </a:extLst>
          </p:cNvPr>
          <p:cNvSpPr/>
          <p:nvPr/>
        </p:nvSpPr>
        <p:spPr>
          <a:xfrm>
            <a:off x="1525731" y="1761602"/>
            <a:ext cx="320000" cy="762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44" name="Arr">
            <a:extLst>
              <a:ext uri="{FF2B5EF4-FFF2-40B4-BE49-F238E27FC236}">
                <a16:creationId xmlns:a16="http://schemas.microsoft.com/office/drawing/2014/main" id="{1706EEF3-927A-FCAA-03A8-29AB038608DA}"/>
              </a:ext>
            </a:extLst>
          </p:cNvPr>
          <p:cNvSpPr/>
          <p:nvPr/>
        </p:nvSpPr>
        <p:spPr>
          <a:xfrm>
            <a:off x="2889288" y="1750612"/>
            <a:ext cx="312674" cy="8719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45" name="Arr">
            <a:extLst>
              <a:ext uri="{FF2B5EF4-FFF2-40B4-BE49-F238E27FC236}">
                <a16:creationId xmlns:a16="http://schemas.microsoft.com/office/drawing/2014/main" id="{8FA8F8CE-1407-C8E6-501E-7C8A1BFCF1C8}"/>
              </a:ext>
            </a:extLst>
          </p:cNvPr>
          <p:cNvSpPr/>
          <p:nvPr/>
        </p:nvSpPr>
        <p:spPr>
          <a:xfrm>
            <a:off x="4318788" y="1750612"/>
            <a:ext cx="320000" cy="762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46" name="Arr">
            <a:extLst>
              <a:ext uri="{FF2B5EF4-FFF2-40B4-BE49-F238E27FC236}">
                <a16:creationId xmlns:a16="http://schemas.microsoft.com/office/drawing/2014/main" id="{FFF46631-4AF5-B887-1837-7B01B2E23860}"/>
              </a:ext>
            </a:extLst>
          </p:cNvPr>
          <p:cNvSpPr/>
          <p:nvPr/>
        </p:nvSpPr>
        <p:spPr>
          <a:xfrm>
            <a:off x="5843538" y="1765265"/>
            <a:ext cx="320000" cy="762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47" name="Arr">
            <a:extLst>
              <a:ext uri="{FF2B5EF4-FFF2-40B4-BE49-F238E27FC236}">
                <a16:creationId xmlns:a16="http://schemas.microsoft.com/office/drawing/2014/main" id="{5F73C87C-CE84-D907-CA9C-964A8743B6E6}"/>
              </a:ext>
            </a:extLst>
          </p:cNvPr>
          <p:cNvSpPr/>
          <p:nvPr/>
        </p:nvSpPr>
        <p:spPr>
          <a:xfrm>
            <a:off x="7240066" y="1746947"/>
            <a:ext cx="309011" cy="90855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48" name="LoginBar">
            <a:extLst>
              <a:ext uri="{FF2B5EF4-FFF2-40B4-BE49-F238E27FC236}">
                <a16:creationId xmlns:a16="http://schemas.microsoft.com/office/drawing/2014/main" id="{31600956-3F8C-A526-B00A-8B7984384A31}"/>
              </a:ext>
            </a:extLst>
          </p:cNvPr>
          <p:cNvSpPr/>
          <p:nvPr/>
        </p:nvSpPr>
        <p:spPr>
          <a:xfrm>
            <a:off x="328979" y="2400000"/>
            <a:ext cx="60960" cy="135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49" name="LoginLbl">
            <a:extLst>
              <a:ext uri="{FF2B5EF4-FFF2-40B4-BE49-F238E27FC236}">
                <a16:creationId xmlns:a16="http://schemas.microsoft.com/office/drawing/2014/main" id="{1B87A9A6-3329-7883-0D7E-EC54C54C3C27}"/>
              </a:ext>
            </a:extLst>
          </p:cNvPr>
          <p:cNvSpPr/>
          <p:nvPr/>
        </p:nvSpPr>
        <p:spPr>
          <a:xfrm>
            <a:off x="387519" y="2378019"/>
            <a:ext cx="16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latin typeface="Arial"/>
              </a:rPr>
              <a:t>LOGIN FLOW</a:t>
            </a:r>
            <a:endParaRPr lang="en-US" sz="1200" b="1" dirty="0">
              <a:latin typeface="Arial"/>
              <a:cs typeface="Arial"/>
            </a:endParaRPr>
          </a:p>
        </p:txBody>
      </p:sp>
      <p:sp>
        <p:nvSpPr>
          <p:cNvPr id="50" name="L1">
            <a:extLst>
              <a:ext uri="{FF2B5EF4-FFF2-40B4-BE49-F238E27FC236}">
                <a16:creationId xmlns:a16="http://schemas.microsoft.com/office/drawing/2014/main" id="{482E442F-7285-7ED3-8C9F-EA2DA059679F}"/>
              </a:ext>
            </a:extLst>
          </p:cNvPr>
          <p:cNvSpPr/>
          <p:nvPr/>
        </p:nvSpPr>
        <p:spPr>
          <a:xfrm>
            <a:off x="406135" y="2721682"/>
            <a:ext cx="1112269" cy="419107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 w="19050">
            <a:solidFill>
              <a:srgbClr val="484F58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Browser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POST /login</a:t>
            </a:r>
          </a:p>
        </p:txBody>
      </p:sp>
      <p:sp>
        <p:nvSpPr>
          <p:cNvPr id="51" name="L2">
            <a:extLst>
              <a:ext uri="{FF2B5EF4-FFF2-40B4-BE49-F238E27FC236}">
                <a16:creationId xmlns:a16="http://schemas.microsoft.com/office/drawing/2014/main" id="{54CB3D61-8A24-6351-46EB-34A3E7106C9A}"/>
              </a:ext>
            </a:extLst>
          </p:cNvPr>
          <p:cNvSpPr/>
          <p:nvPr/>
        </p:nvSpPr>
        <p:spPr>
          <a:xfrm>
            <a:off x="1846625" y="2729010"/>
            <a:ext cx="1236827" cy="426433"/>
          </a:xfrm>
          <a:prstGeom prst="roundRect">
            <a:avLst>
              <a:gd name="adj" fmla="val 20000"/>
            </a:avLst>
          </a:prstGeom>
          <a:solidFill>
            <a:srgbClr val="1A2A4A"/>
          </a:solidFill>
          <a:ln w="19050">
            <a:solidFill>
              <a:srgbClr val="1F6FEB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Database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Find User by Email</a:t>
            </a:r>
          </a:p>
        </p:txBody>
      </p:sp>
      <p:sp>
        <p:nvSpPr>
          <p:cNvPr id="52" name="L3">
            <a:extLst>
              <a:ext uri="{FF2B5EF4-FFF2-40B4-BE49-F238E27FC236}">
                <a16:creationId xmlns:a16="http://schemas.microsoft.com/office/drawing/2014/main" id="{4B75D2CB-AD53-CB27-12DE-3F7B95DE72E1}"/>
              </a:ext>
            </a:extLst>
          </p:cNvPr>
          <p:cNvSpPr/>
          <p:nvPr/>
        </p:nvSpPr>
        <p:spPr>
          <a:xfrm>
            <a:off x="3400683" y="2736337"/>
            <a:ext cx="1108606" cy="408115"/>
          </a:xfrm>
          <a:prstGeom prst="roundRect">
            <a:avLst>
              <a:gd name="adj" fmla="val 20000"/>
            </a:avLst>
          </a:prstGeom>
          <a:solidFill>
            <a:srgbClr val="4A1A1A"/>
          </a:solidFill>
          <a:ln w="19050">
            <a:solidFill>
              <a:srgbClr val="C0392B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Security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bcrypt.verify()</a:t>
            </a:r>
          </a:p>
        </p:txBody>
      </p:sp>
      <p:sp>
        <p:nvSpPr>
          <p:cNvPr id="53" name="L4">
            <a:extLst>
              <a:ext uri="{FF2B5EF4-FFF2-40B4-BE49-F238E27FC236}">
                <a16:creationId xmlns:a16="http://schemas.microsoft.com/office/drawing/2014/main" id="{8F5FA9CC-EBC2-63EA-FDB4-2E5F1D74BBB4}"/>
              </a:ext>
            </a:extLst>
          </p:cNvPr>
          <p:cNvSpPr/>
          <p:nvPr/>
        </p:nvSpPr>
        <p:spPr>
          <a:xfrm>
            <a:off x="4826519" y="2729009"/>
            <a:ext cx="1046328" cy="433761"/>
          </a:xfrm>
          <a:prstGeom prst="roundRect">
            <a:avLst>
              <a:gd name="adj" fmla="val 20000"/>
            </a:avLst>
          </a:prstGeom>
          <a:solidFill>
            <a:srgbClr val="3A2900"/>
          </a:solidFill>
          <a:ln w="19050">
            <a:solidFill>
              <a:srgbClr val="D29922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D29922"/>
                </a:solidFill>
                <a:latin typeface="Arial"/>
              </a:rPr>
              <a:t>Match Hash?</a:t>
            </a:r>
          </a:p>
        </p:txBody>
      </p:sp>
      <p:sp>
        <p:nvSpPr>
          <p:cNvPr id="54" name="Arr">
            <a:extLst>
              <a:ext uri="{FF2B5EF4-FFF2-40B4-BE49-F238E27FC236}">
                <a16:creationId xmlns:a16="http://schemas.microsoft.com/office/drawing/2014/main" id="{09F111E7-B25B-4C6A-6971-978AF9053E43}"/>
              </a:ext>
            </a:extLst>
          </p:cNvPr>
          <p:cNvSpPr/>
          <p:nvPr/>
        </p:nvSpPr>
        <p:spPr>
          <a:xfrm>
            <a:off x="1525731" y="2894967"/>
            <a:ext cx="320000" cy="762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55" name="Arr">
            <a:extLst>
              <a:ext uri="{FF2B5EF4-FFF2-40B4-BE49-F238E27FC236}">
                <a16:creationId xmlns:a16="http://schemas.microsoft.com/office/drawing/2014/main" id="{DB4C37EE-012B-2872-83BD-DF41990BC3CB}"/>
              </a:ext>
            </a:extLst>
          </p:cNvPr>
          <p:cNvSpPr/>
          <p:nvPr/>
        </p:nvSpPr>
        <p:spPr>
          <a:xfrm>
            <a:off x="3083452" y="2902294"/>
            <a:ext cx="320000" cy="762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56" name="Arr">
            <a:extLst>
              <a:ext uri="{FF2B5EF4-FFF2-40B4-BE49-F238E27FC236}">
                <a16:creationId xmlns:a16="http://schemas.microsoft.com/office/drawing/2014/main" id="{39CBD65A-63F1-BF79-F1E0-F95B493306B3}"/>
              </a:ext>
            </a:extLst>
          </p:cNvPr>
          <p:cNvSpPr/>
          <p:nvPr/>
        </p:nvSpPr>
        <p:spPr>
          <a:xfrm>
            <a:off x="4509288" y="2902294"/>
            <a:ext cx="320000" cy="762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58" name="YesLbl">
            <a:extLst>
              <a:ext uri="{FF2B5EF4-FFF2-40B4-BE49-F238E27FC236}">
                <a16:creationId xmlns:a16="http://schemas.microsoft.com/office/drawing/2014/main" id="{B5468BF6-12DC-E315-FD7E-497A93366894}"/>
              </a:ext>
            </a:extLst>
          </p:cNvPr>
          <p:cNvSpPr/>
          <p:nvPr/>
        </p:nvSpPr>
        <p:spPr>
          <a:xfrm>
            <a:off x="5891163" y="2375144"/>
            <a:ext cx="520895" cy="2006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solidFill>
                  <a:srgbClr val="3FB950"/>
                </a:solidFill>
                <a:latin typeface="Arial"/>
              </a:rPr>
              <a:t>YES</a:t>
            </a:r>
          </a:p>
        </p:txBody>
      </p:sp>
      <p:sp>
        <p:nvSpPr>
          <p:cNvPr id="59" name="GenJWT">
            <a:extLst>
              <a:ext uri="{FF2B5EF4-FFF2-40B4-BE49-F238E27FC236}">
                <a16:creationId xmlns:a16="http://schemas.microsoft.com/office/drawing/2014/main" id="{DEA75818-37AC-E221-550B-1553495476B1}"/>
              </a:ext>
            </a:extLst>
          </p:cNvPr>
          <p:cNvSpPr/>
          <p:nvPr/>
        </p:nvSpPr>
        <p:spPr>
          <a:xfrm>
            <a:off x="6405329" y="2329692"/>
            <a:ext cx="1129691" cy="488713"/>
          </a:xfrm>
          <a:prstGeom prst="roundRect">
            <a:avLst>
              <a:gd name="adj" fmla="val 20000"/>
            </a:avLst>
          </a:prstGeom>
          <a:solidFill>
            <a:srgbClr val="1A2A4A"/>
          </a:solidFill>
          <a:ln w="19050">
            <a:solidFill>
              <a:srgbClr val="1F6FEB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>
                <a:solidFill>
                  <a:srgbClr val="FFFFFF"/>
                </a:solidFill>
                <a:latin typeface="Arial"/>
              </a:rPr>
              <a:t>Generate JWT</a:t>
            </a:r>
            <a:endParaRPr lang="en-US" sz="1000" b="1" dirty="0">
              <a:solidFill>
                <a:srgbClr val="FFFFFF"/>
              </a:solidFill>
              <a:latin typeface="Arial"/>
              <a:cs typeface="Arial"/>
            </a:endParaRPr>
          </a:p>
          <a:p>
            <a:r>
              <a:rPr lang="en-US" sz="1000" b="1" dirty="0">
                <a:solidFill>
                  <a:srgbClr val="FFFFFF"/>
                </a:solidFill>
                <a:latin typeface="Arial"/>
              </a:rPr>
              <a:t> (60m)</a:t>
            </a:r>
            <a:endParaRPr lang="en-US" sz="10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0" name="ArrTok">
            <a:extLst>
              <a:ext uri="{FF2B5EF4-FFF2-40B4-BE49-F238E27FC236}">
                <a16:creationId xmlns:a16="http://schemas.microsoft.com/office/drawing/2014/main" id="{61F0316C-DE44-0DF9-A9F8-115D63BE0632}"/>
              </a:ext>
            </a:extLst>
          </p:cNvPr>
          <p:cNvSpPr/>
          <p:nvPr/>
        </p:nvSpPr>
        <p:spPr>
          <a:xfrm flipV="1">
            <a:off x="7538683" y="2571851"/>
            <a:ext cx="320000" cy="70338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61" name="AccTok">
            <a:extLst>
              <a:ext uri="{FF2B5EF4-FFF2-40B4-BE49-F238E27FC236}">
                <a16:creationId xmlns:a16="http://schemas.microsoft.com/office/drawing/2014/main" id="{E0471FC9-100E-F94F-3CE8-13022F086A84}"/>
              </a:ext>
            </a:extLst>
          </p:cNvPr>
          <p:cNvSpPr/>
          <p:nvPr/>
        </p:nvSpPr>
        <p:spPr>
          <a:xfrm>
            <a:off x="7858683" y="2355334"/>
            <a:ext cx="1011674" cy="459408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8B949E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{access_token}</a:t>
            </a:r>
          </a:p>
        </p:txBody>
      </p:sp>
      <p:sp>
        <p:nvSpPr>
          <p:cNvPr id="62" name="Ret401">
            <a:extLst>
              <a:ext uri="{FF2B5EF4-FFF2-40B4-BE49-F238E27FC236}">
                <a16:creationId xmlns:a16="http://schemas.microsoft.com/office/drawing/2014/main" id="{0073E684-AEDE-8C9B-4FF0-38B7B019391F}"/>
              </a:ext>
            </a:extLst>
          </p:cNvPr>
          <p:cNvSpPr/>
          <p:nvPr/>
        </p:nvSpPr>
        <p:spPr>
          <a:xfrm>
            <a:off x="6408991" y="3077019"/>
            <a:ext cx="1126029" cy="412077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C0392B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>
                <a:latin typeface="Arial"/>
              </a:rPr>
              <a:t>Return 401</a:t>
            </a:r>
          </a:p>
        </p:txBody>
      </p:sp>
      <p:sp>
        <p:nvSpPr>
          <p:cNvPr id="63" name="NoLbl">
            <a:extLst>
              <a:ext uri="{FF2B5EF4-FFF2-40B4-BE49-F238E27FC236}">
                <a16:creationId xmlns:a16="http://schemas.microsoft.com/office/drawing/2014/main" id="{2F3A5646-1824-3230-CC5B-2AE0E01F6255}"/>
              </a:ext>
            </a:extLst>
          </p:cNvPr>
          <p:cNvSpPr/>
          <p:nvPr/>
        </p:nvSpPr>
        <p:spPr>
          <a:xfrm>
            <a:off x="6000875" y="3280394"/>
            <a:ext cx="525846" cy="14574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solidFill>
                  <a:srgbClr val="C0392B"/>
                </a:solidFill>
                <a:latin typeface="Arial"/>
              </a:rPr>
              <a:t>NO</a:t>
            </a:r>
          </a:p>
        </p:txBody>
      </p:sp>
      <p:sp>
        <p:nvSpPr>
          <p:cNvPr id="64" name="ProtBar">
            <a:extLst>
              <a:ext uri="{FF2B5EF4-FFF2-40B4-BE49-F238E27FC236}">
                <a16:creationId xmlns:a16="http://schemas.microsoft.com/office/drawing/2014/main" id="{EB743D9C-0721-1ADC-AE64-18373C59CE20}"/>
              </a:ext>
            </a:extLst>
          </p:cNvPr>
          <p:cNvSpPr/>
          <p:nvPr/>
        </p:nvSpPr>
        <p:spPr>
          <a:xfrm>
            <a:off x="328979" y="3750683"/>
            <a:ext cx="60960" cy="11000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65" name="ProtLbl">
            <a:extLst>
              <a:ext uri="{FF2B5EF4-FFF2-40B4-BE49-F238E27FC236}">
                <a16:creationId xmlns:a16="http://schemas.microsoft.com/office/drawing/2014/main" id="{3721908D-6359-7F29-B00D-8AAA16BE50C7}"/>
              </a:ext>
            </a:extLst>
          </p:cNvPr>
          <p:cNvSpPr/>
          <p:nvPr/>
        </p:nvSpPr>
        <p:spPr>
          <a:xfrm>
            <a:off x="358212" y="3750683"/>
            <a:ext cx="28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rgbClr val="FFFFFF"/>
                </a:solidFill>
                <a:latin typeface="Arial"/>
              </a:rPr>
              <a:t>PROTECTED REQUEST FLOW</a:t>
            </a:r>
          </a:p>
        </p:txBody>
      </p:sp>
      <p:sp>
        <p:nvSpPr>
          <p:cNvPr id="66" name="P1">
            <a:extLst>
              <a:ext uri="{FF2B5EF4-FFF2-40B4-BE49-F238E27FC236}">
                <a16:creationId xmlns:a16="http://schemas.microsoft.com/office/drawing/2014/main" id="{C76653AD-46C0-DAA7-3254-8C9BABEE2077}"/>
              </a:ext>
            </a:extLst>
          </p:cNvPr>
          <p:cNvSpPr/>
          <p:nvPr/>
        </p:nvSpPr>
        <p:spPr>
          <a:xfrm>
            <a:off x="398809" y="4130981"/>
            <a:ext cx="1352269" cy="422770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 w="19050">
            <a:solidFill>
              <a:srgbClr val="484F58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Browser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GET w/ Bearer Token</a:t>
            </a:r>
          </a:p>
        </p:txBody>
      </p:sp>
      <p:sp>
        <p:nvSpPr>
          <p:cNvPr id="67" name="P2">
            <a:extLst>
              <a:ext uri="{FF2B5EF4-FFF2-40B4-BE49-F238E27FC236}">
                <a16:creationId xmlns:a16="http://schemas.microsoft.com/office/drawing/2014/main" id="{75F908C0-9F3D-73A1-A5CE-4FF0BD1EB39A}"/>
              </a:ext>
            </a:extLst>
          </p:cNvPr>
          <p:cNvSpPr/>
          <p:nvPr/>
        </p:nvSpPr>
        <p:spPr>
          <a:xfrm>
            <a:off x="2082472" y="4127316"/>
            <a:ext cx="1564749" cy="426435"/>
          </a:xfrm>
          <a:prstGeom prst="roundRect">
            <a:avLst>
              <a:gd name="adj" fmla="val 20000"/>
            </a:avLst>
          </a:prstGeom>
          <a:solidFill>
            <a:srgbClr val="1F4A2D"/>
          </a:solidFill>
          <a:ln w="19050">
            <a:solidFill>
              <a:srgbClr val="3FB950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>
                <a:solidFill>
                  <a:srgbClr val="FFFFFF"/>
                </a:solidFill>
                <a:latin typeface="Arial"/>
              </a:rPr>
              <a:t>FastAPI HTTPBearer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Verify &amp; Decode JWT</a:t>
            </a:r>
          </a:p>
        </p:txBody>
      </p:sp>
      <p:sp>
        <p:nvSpPr>
          <p:cNvPr id="68" name="P3">
            <a:extLst>
              <a:ext uri="{FF2B5EF4-FFF2-40B4-BE49-F238E27FC236}">
                <a16:creationId xmlns:a16="http://schemas.microsoft.com/office/drawing/2014/main" id="{7675D9A9-0B07-D321-6756-481B5260CA55}"/>
              </a:ext>
            </a:extLst>
          </p:cNvPr>
          <p:cNvSpPr/>
          <p:nvPr/>
        </p:nvSpPr>
        <p:spPr>
          <a:xfrm>
            <a:off x="3982770" y="4116326"/>
            <a:ext cx="1249692" cy="441088"/>
          </a:xfrm>
          <a:prstGeom prst="roundRect">
            <a:avLst>
              <a:gd name="adj" fmla="val 20000"/>
            </a:avLst>
          </a:prstGeom>
          <a:solidFill>
            <a:srgbClr val="2A1A4A"/>
          </a:solidFill>
          <a:ln w="19050">
            <a:solidFill>
              <a:srgbClr val="8957E5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Context Setup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Extract user_id</a:t>
            </a:r>
          </a:p>
        </p:txBody>
      </p:sp>
      <p:sp>
        <p:nvSpPr>
          <p:cNvPr id="69" name="P4">
            <a:extLst>
              <a:ext uri="{FF2B5EF4-FFF2-40B4-BE49-F238E27FC236}">
                <a16:creationId xmlns:a16="http://schemas.microsoft.com/office/drawing/2014/main" id="{BCA508CC-0586-37EA-F36B-117E000D99D0}"/>
              </a:ext>
            </a:extLst>
          </p:cNvPr>
          <p:cNvSpPr/>
          <p:nvPr/>
        </p:nvSpPr>
        <p:spPr>
          <a:xfrm>
            <a:off x="5561278" y="4112663"/>
            <a:ext cx="1421875" cy="444751"/>
          </a:xfrm>
          <a:prstGeom prst="roundRect">
            <a:avLst>
              <a:gd name="adj" fmla="val 20000"/>
            </a:avLst>
          </a:prstGeom>
          <a:solidFill>
            <a:srgbClr val="1A2A4A"/>
          </a:solidFill>
          <a:ln w="19050">
            <a:solidFill>
              <a:srgbClr val="1F6FEB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Database Query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Filter by user_id</a:t>
            </a:r>
          </a:p>
        </p:txBody>
      </p:sp>
      <p:sp>
        <p:nvSpPr>
          <p:cNvPr id="70" name="P5">
            <a:extLst>
              <a:ext uri="{FF2B5EF4-FFF2-40B4-BE49-F238E27FC236}">
                <a16:creationId xmlns:a16="http://schemas.microsoft.com/office/drawing/2014/main" id="{823E14A1-2362-658B-2C67-94B169D36538}"/>
              </a:ext>
            </a:extLst>
          </p:cNvPr>
          <p:cNvSpPr/>
          <p:nvPr/>
        </p:nvSpPr>
        <p:spPr>
          <a:xfrm>
            <a:off x="7306625" y="4109000"/>
            <a:ext cx="1073847" cy="437424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8B949E"/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Response</a:t>
            </a:r>
          </a:p>
          <a:p>
            <a:r>
              <a:rPr lang="en-US" sz="900" dirty="0">
                <a:solidFill>
                  <a:srgbClr val="8B949E"/>
                </a:solidFill>
                <a:latin typeface="Arial"/>
              </a:rPr>
              <a:t>JSON Data</a:t>
            </a:r>
          </a:p>
        </p:txBody>
      </p:sp>
      <p:sp>
        <p:nvSpPr>
          <p:cNvPr id="71" name="Arr">
            <a:extLst>
              <a:ext uri="{FF2B5EF4-FFF2-40B4-BE49-F238E27FC236}">
                <a16:creationId xmlns:a16="http://schemas.microsoft.com/office/drawing/2014/main" id="{8E644F25-3B55-7136-9AF2-5C0CB2F5ABE2}"/>
              </a:ext>
            </a:extLst>
          </p:cNvPr>
          <p:cNvSpPr/>
          <p:nvPr/>
        </p:nvSpPr>
        <p:spPr>
          <a:xfrm>
            <a:off x="1755933" y="4300602"/>
            <a:ext cx="320000" cy="762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72" name="Arr">
            <a:extLst>
              <a:ext uri="{FF2B5EF4-FFF2-40B4-BE49-F238E27FC236}">
                <a16:creationId xmlns:a16="http://schemas.microsoft.com/office/drawing/2014/main" id="{EB0E3CC9-ABEF-DAC4-7A88-8EFE09ED70B0}"/>
              </a:ext>
            </a:extLst>
          </p:cNvPr>
          <p:cNvSpPr/>
          <p:nvPr/>
        </p:nvSpPr>
        <p:spPr>
          <a:xfrm>
            <a:off x="3650885" y="4300602"/>
            <a:ext cx="320000" cy="762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73" name="Arr">
            <a:extLst>
              <a:ext uri="{FF2B5EF4-FFF2-40B4-BE49-F238E27FC236}">
                <a16:creationId xmlns:a16="http://schemas.microsoft.com/office/drawing/2014/main" id="{3B45CEC0-C246-652F-393D-8D1F9092ED2B}"/>
              </a:ext>
            </a:extLst>
          </p:cNvPr>
          <p:cNvSpPr/>
          <p:nvPr/>
        </p:nvSpPr>
        <p:spPr>
          <a:xfrm>
            <a:off x="5240385" y="4296938"/>
            <a:ext cx="320000" cy="762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74" name="Arr">
            <a:extLst>
              <a:ext uri="{FF2B5EF4-FFF2-40B4-BE49-F238E27FC236}">
                <a16:creationId xmlns:a16="http://schemas.microsoft.com/office/drawing/2014/main" id="{72122DCB-1727-9DFE-9F11-47B38F5BA27F}"/>
              </a:ext>
            </a:extLst>
          </p:cNvPr>
          <p:cNvSpPr/>
          <p:nvPr/>
        </p:nvSpPr>
        <p:spPr>
          <a:xfrm>
            <a:off x="6983750" y="4296939"/>
            <a:ext cx="320000" cy="762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8B949E"/>
          </a:solidFill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/>
          </a:p>
        </p:txBody>
      </p:sp>
      <p:sp>
        <p:nvSpPr>
          <p:cNvPr id="75" name="SlideNum">
            <a:extLst>
              <a:ext uri="{FF2B5EF4-FFF2-40B4-BE49-F238E27FC236}">
                <a16:creationId xmlns:a16="http://schemas.microsoft.com/office/drawing/2014/main" id="{433E656F-3946-5AE1-E342-8DB581250811}"/>
              </a:ext>
            </a:extLst>
          </p:cNvPr>
          <p:cNvSpPr/>
          <p:nvPr/>
        </p:nvSpPr>
        <p:spPr>
          <a:xfrm>
            <a:off x="10500000" y="648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484F58"/>
                </a:solidFill>
                <a:latin typeface="Arial"/>
              </a:rPr>
              <a:t>Slide 10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C3A214A6-91FF-B2A3-64BD-0622B323EC58}"/>
              </a:ext>
            </a:extLst>
          </p:cNvPr>
          <p:cNvCxnSpPr/>
          <p:nvPr/>
        </p:nvCxnSpPr>
        <p:spPr>
          <a:xfrm flipV="1">
            <a:off x="5876192" y="2579077"/>
            <a:ext cx="516547" cy="315057"/>
          </a:xfrm>
          <a:prstGeom prst="bentConnector3">
            <a:avLst/>
          </a:prstGeom>
          <a:ln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AA8AB7D0-EE4C-B5E4-D7FA-C44F5DCE1002}"/>
              </a:ext>
            </a:extLst>
          </p:cNvPr>
          <p:cNvCxnSpPr/>
          <p:nvPr/>
        </p:nvCxnSpPr>
        <p:spPr>
          <a:xfrm>
            <a:off x="5883519" y="2894134"/>
            <a:ext cx="505557" cy="344365"/>
          </a:xfrm>
          <a:prstGeom prst="bentConnector3">
            <a:avLst/>
          </a:prstGeom>
          <a:ln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240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164592"/>
            <a:ext cx="50292" cy="80467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Strategy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2920" y="71650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Ensuring AI accuracy through strict tool grounding and architectural constraints.</a:t>
            </a:r>
          </a:p>
        </p:txBody>
      </p:sp>
      <p:sp>
        <p:nvSpPr>
          <p:cNvPr id="6" name="Text 3"/>
          <p:cNvSpPr/>
          <p:nvPr/>
        </p:nvSpPr>
        <p:spPr>
          <a:xfrm>
            <a:off x="320040" y="1133856"/>
            <a:ext cx="384048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Calibri"/>
                <a:ea typeface="Calibri"/>
                <a:cs typeface="Calibri"/>
              </a:rPr>
              <a:t>WITHOUT GROUNDING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93908" y="1048070"/>
            <a:ext cx="429768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Calibri"/>
                <a:ea typeface="Calibri"/>
                <a:cs typeface="Calibri"/>
              </a:rPr>
              <a:t>WITH GROUNDING (OUR APPROACH)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0040" y="1435608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11480" y="14356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"What is my total spend?"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40280" y="1938528"/>
            <a:ext cx="0" cy="292608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320040" y="2231136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1480" y="2231136"/>
            <a:ext cx="3657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🤖  </a:t>
            </a: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guesses (No external data)</a:t>
            </a:r>
            <a:endParaRPr lang="en-US" sz="1050">
              <a:latin typeface="Neue Haas Grotesk Text Pro"/>
              <a:ea typeface="Calibri"/>
              <a:cs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240280" y="2734056"/>
            <a:ext cx="0" cy="292608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320040" y="3026664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1A0505"/>
          </a:solidFill>
          <a:ln w="19050">
            <a:solidFill>
              <a:srgbClr val="EF4444"/>
            </a:solidFill>
            <a:prstDash val="dash"/>
          </a:ln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" y="30449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spend about $200/month"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5488" y="33467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GUESSED - WRONG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462272" y="1115568"/>
            <a:ext cx="0" cy="2697480"/>
          </a:xfrm>
          <a:prstGeom prst="line">
            <a:avLst/>
          </a:prstGeom>
          <a:noFill/>
          <a:ln w="12700">
            <a:solidFill>
              <a:srgbClr val="1E293B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4617720" y="1367268"/>
            <a:ext cx="4261162" cy="402336"/>
          </a:xfrm>
          <a:prstGeom prst="roundRect">
            <a:avLst>
              <a:gd name="adj" fmla="val 15909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45736" y="1366002"/>
            <a:ext cx="3968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</a:t>
            </a: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call tools before answering"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37311" y="1772002"/>
            <a:ext cx="0" cy="11887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  <p:sp>
        <p:nvSpPr>
          <p:cNvPr id="21" name="Shape 18"/>
          <p:cNvSpPr/>
          <p:nvPr/>
        </p:nvSpPr>
        <p:spPr>
          <a:xfrm>
            <a:off x="4625046" y="1901864"/>
            <a:ext cx="4261164" cy="343722"/>
          </a:xfrm>
          <a:prstGeom prst="roundRect">
            <a:avLst>
              <a:gd name="adj" fmla="val 15909"/>
            </a:avLst>
          </a:prstGeom>
          <a:solidFill>
            <a:srgbClr val="1E293B"/>
          </a:solidFill>
          <a:ln w="1778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55640" y="1872556"/>
            <a:ext cx="3968496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   LLM executes </a:t>
            </a:r>
            <a:r>
              <a:rPr lang="en-US" sz="10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tool_call</a:t>
            </a: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950" dirty="0" err="1">
                <a:solidFill>
                  <a:srgbClr val="06B6D4"/>
                </a:solidFill>
                <a:latin typeface="Courier New"/>
                <a:ea typeface="Courier New" pitchFamily="34" charset="-122"/>
                <a:cs typeface="Courier New"/>
              </a:rPr>
              <a:t>get_spending_summary</a:t>
            </a:r>
            <a:endParaRPr lang="en-US" sz="1050" dirty="0" err="1">
              <a:latin typeface="Courier New"/>
              <a:cs typeface="Courier New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740974" y="2263902"/>
            <a:ext cx="0" cy="11887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  <p:sp>
        <p:nvSpPr>
          <p:cNvPr id="24" name="Shape 21"/>
          <p:cNvSpPr/>
          <p:nvPr/>
        </p:nvSpPr>
        <p:spPr>
          <a:xfrm>
            <a:off x="4621382" y="2382774"/>
            <a:ext cx="4268491" cy="343721"/>
          </a:xfrm>
          <a:prstGeom prst="roundRect">
            <a:avLst>
              <a:gd name="adj" fmla="val 15909"/>
            </a:avLst>
          </a:prstGeom>
          <a:solidFill>
            <a:srgbClr val="1E293B"/>
          </a:solidFill>
          <a:ln w="1778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020496" y="2353466"/>
            <a:ext cx="3968496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   Tool queries SQLite database securely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737311" y="2755802"/>
            <a:ext cx="0" cy="11887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  <p:sp>
        <p:nvSpPr>
          <p:cNvPr id="27" name="Shape 24"/>
          <p:cNvSpPr/>
          <p:nvPr/>
        </p:nvSpPr>
        <p:spPr>
          <a:xfrm>
            <a:off x="4621383" y="2878338"/>
            <a:ext cx="4297798" cy="395009"/>
          </a:xfrm>
          <a:prstGeom prst="roundRect">
            <a:avLst>
              <a:gd name="adj" fmla="val 15909"/>
            </a:avLst>
          </a:prstGeom>
          <a:solidFill>
            <a:srgbClr val="1E293B"/>
          </a:solidFill>
          <a:ln w="1778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738409" y="2882001"/>
            <a:ext cx="3968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 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</a:t>
            </a: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{total_monthly: 387.43, by_category: [...]}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777609" y="3298991"/>
            <a:ext cx="0" cy="11887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  <p:sp>
        <p:nvSpPr>
          <p:cNvPr id="30" name="Shape 27"/>
          <p:cNvSpPr/>
          <p:nvPr/>
        </p:nvSpPr>
        <p:spPr>
          <a:xfrm>
            <a:off x="4621384" y="3428854"/>
            <a:ext cx="4290469" cy="398673"/>
          </a:xfrm>
          <a:prstGeom prst="roundRect">
            <a:avLst>
              <a:gd name="adj" fmla="val 15909"/>
            </a:avLst>
          </a:prstGeom>
          <a:solidFill>
            <a:srgbClr val="052E16"/>
          </a:solidFill>
          <a:ln w="2286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745736" y="3439815"/>
            <a:ext cx="3968496" cy="2092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spend exactly $387.43/month"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745736" y="3622695"/>
            <a:ext cx="3968496" cy="177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GROUNDED FACTUAL ANSWER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20040" y="3742219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ANTI-HALLUCINATION MECHANISMS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0040" y="3977640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1E293B"/>
          </a:solidFill>
          <a:ln w="12700">
            <a:solidFill>
              <a:srgbClr val="3B82F6">
                <a:alpha val="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20040" y="3977640"/>
            <a:ext cx="201168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9768" y="4069080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</a:t>
            </a: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29768" y="437997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instructions prioritizing tool usage over internal knowledge.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423160" y="3977640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1E293B"/>
          </a:solidFill>
          <a:ln w="12700">
            <a:solidFill>
              <a:srgbClr val="F59E0B">
                <a:alpha val="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423160" y="3977640"/>
            <a:ext cx="20116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532888" y="4069080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Architecture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2532888" y="437997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has no direct DB access. Tools provide controlled, read-only data fetching.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26280" y="3977640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1E293B"/>
          </a:solidFill>
          <a:ln w="12700">
            <a:solidFill>
              <a:srgbClr val="10B981">
                <a:alpha val="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526280" y="3977640"/>
            <a:ext cx="201168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36008" y="4069080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</a:t>
            </a: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Design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636008" y="437997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 loops through tools before allowing final answer generation.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6629400" y="3977640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1E293B"/>
          </a:solidFill>
          <a:ln w="12700">
            <a:solidFill>
              <a:srgbClr val="A855F7">
                <a:alpha val="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629400" y="3977640"/>
            <a:ext cx="201168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739128" y="4069080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</a:t>
            </a: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739128" y="437997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retry mechanism if the LLM produces improperly formatted tool calls.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042452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374DB-25DD-2794-8234-AEE04C61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DE764B-B7F4-183F-2FDD-1841EBC7483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5A4B04D-8C5C-D681-F4CF-CF1AA449F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4DC8920-E4EA-BFCB-23CC-B2F6F08D4FEB}"/>
              </a:ext>
            </a:extLst>
          </p:cNvPr>
          <p:cNvSpPr/>
          <p:nvPr/>
        </p:nvSpPr>
        <p:spPr>
          <a:xfrm>
            <a:off x="13258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PERFORMANCE</a:t>
            </a:r>
            <a:endParaRPr lang="en-US" sz="3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D154037-E0B3-D649-E330-6CDEEC27EAA8}"/>
              </a:ext>
            </a:extLst>
          </p:cNvPr>
          <p:cNvSpPr/>
          <p:nvPr/>
        </p:nvSpPr>
        <p:spPr>
          <a:xfrm>
            <a:off x="731520" y="868680"/>
            <a:ext cx="1371600" cy="45720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7DCBD4F-043C-0498-AAFF-88CD89F7935F}"/>
              </a:ext>
            </a:extLst>
          </p:cNvPr>
          <p:cNvSpPr/>
          <p:nvPr/>
        </p:nvSpPr>
        <p:spPr>
          <a:xfrm>
            <a:off x="45720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3200" dirty="0">
              <a:solidFill>
                <a:srgbClr val="FF4444"/>
              </a:solidFill>
              <a:latin typeface="Arial Black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8A7955B-08A8-B1B7-4CDB-B15E7DFE0E0F}"/>
              </a:ext>
            </a:extLst>
          </p:cNvPr>
          <p:cNvSpPr/>
          <p:nvPr/>
        </p:nvSpPr>
        <p:spPr>
          <a:xfrm>
            <a:off x="45720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 dirty="0">
              <a:solidFill>
                <a:srgbClr val="CCCCCC"/>
              </a:solidFill>
              <a:latin typeface="Arial"/>
              <a:cs typeface="Arial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4992A59-0BB8-EA1A-C7A8-448A516CF9ED}"/>
              </a:ext>
            </a:extLst>
          </p:cNvPr>
          <p:cNvSpPr/>
          <p:nvPr/>
        </p:nvSpPr>
        <p:spPr>
          <a:xfrm>
            <a:off x="260604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3200" dirty="0">
              <a:solidFill>
                <a:srgbClr val="FF4444"/>
              </a:solidFill>
              <a:latin typeface="Arial Black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4EE58D7-5B19-ADCE-4346-5FCD82804FA7}"/>
              </a:ext>
            </a:extLst>
          </p:cNvPr>
          <p:cNvSpPr/>
          <p:nvPr/>
        </p:nvSpPr>
        <p:spPr>
          <a:xfrm>
            <a:off x="26060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 dirty="0">
              <a:solidFill>
                <a:srgbClr val="CCCCCC"/>
              </a:solidFill>
              <a:latin typeface="Arial"/>
              <a:cs typeface="Arial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90932B1-A3EC-35A9-9FF3-80BFB895911D}"/>
              </a:ext>
            </a:extLst>
          </p:cNvPr>
          <p:cNvSpPr/>
          <p:nvPr/>
        </p:nvSpPr>
        <p:spPr>
          <a:xfrm>
            <a:off x="475488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 dirty="0">
              <a:solidFill>
                <a:srgbClr val="CCCCCC"/>
              </a:solidFill>
              <a:latin typeface="Arial"/>
              <a:cs typeface="Arial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2E03D21-E452-961A-F825-EA6FE75F7811}"/>
              </a:ext>
            </a:extLst>
          </p:cNvPr>
          <p:cNvSpPr/>
          <p:nvPr/>
        </p:nvSpPr>
        <p:spPr>
          <a:xfrm>
            <a:off x="690372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3200" dirty="0">
              <a:solidFill>
                <a:srgbClr val="FF4444"/>
              </a:solidFill>
              <a:latin typeface="Arial Black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EAAFC25-A661-2E1E-121F-8D98DB54BFA4}"/>
              </a:ext>
            </a:extLst>
          </p:cNvPr>
          <p:cNvSpPr/>
          <p:nvPr/>
        </p:nvSpPr>
        <p:spPr>
          <a:xfrm>
            <a:off x="640752" y="110198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endpoints under /api — Swagger UI at /api/docs</a:t>
            </a:r>
            <a:endParaRPr lang="en-US" sz="18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073D1A12-A4EA-4C22-AE50-6983647F1598}"/>
              </a:ext>
            </a:extLst>
          </p:cNvPr>
          <p:cNvSpPr/>
          <p:nvPr/>
        </p:nvSpPr>
        <p:spPr>
          <a:xfrm>
            <a:off x="914400" y="1676041"/>
            <a:ext cx="109728" cy="109728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9AB0687-A12F-D97E-ED0D-FED44C51B03C}"/>
              </a:ext>
            </a:extLst>
          </p:cNvPr>
          <p:cNvSpPr/>
          <p:nvPr/>
        </p:nvSpPr>
        <p:spPr>
          <a:xfrm>
            <a:off x="1029252" y="1582719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/api/auth/register  ·  POST /api/auth/login  ·  GET /api/auth/me</a:t>
            </a:r>
            <a:endParaRPr lang="en-US" sz="12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97E581D-EE76-DF89-3B4C-9F076E4DD1E7}"/>
              </a:ext>
            </a:extLst>
          </p:cNvPr>
          <p:cNvSpPr/>
          <p:nvPr/>
        </p:nvSpPr>
        <p:spPr>
          <a:xfrm>
            <a:off x="907418" y="1954534"/>
            <a:ext cx="120718" cy="131707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6AE6A4B-A0B5-947E-0FE4-9F6E018DA724}"/>
              </a:ext>
            </a:extLst>
          </p:cNvPr>
          <p:cNvSpPr/>
          <p:nvPr/>
        </p:nvSpPr>
        <p:spPr>
          <a:xfrm>
            <a:off x="1029252" y="1875865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POST/GET /api/subscriptions  ·  GET/PATCH/DELETE /api/subscriptions/{id}</a:t>
            </a:r>
            <a:endParaRPr lang="en-US" sz="12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4F8D9E3F-9F37-A337-F6A5-72F238C80658}"/>
              </a:ext>
            </a:extLst>
          </p:cNvPr>
          <p:cNvSpPr/>
          <p:nvPr/>
        </p:nvSpPr>
        <p:spPr>
          <a:xfrm>
            <a:off x="904315" y="2258971"/>
            <a:ext cx="109728" cy="109728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19E85A2-B535-3A48-6676-A002168908F5}"/>
              </a:ext>
            </a:extLst>
          </p:cNvPr>
          <p:cNvSpPr/>
          <p:nvPr/>
        </p:nvSpPr>
        <p:spPr>
          <a:xfrm>
            <a:off x="1023994" y="2169011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/api/dashboard/summary  ·  GET /api/dashboard/renewals?days=30</a:t>
            </a:r>
            <a:endParaRPr lang="en-US" sz="12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714E10A-1081-91FE-7C5C-61CDC67FDC79}"/>
              </a:ext>
            </a:extLst>
          </p:cNvPr>
          <p:cNvSpPr/>
          <p:nvPr/>
        </p:nvSpPr>
        <p:spPr>
          <a:xfrm>
            <a:off x="904315" y="2552117"/>
            <a:ext cx="109728" cy="109728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ED453E6-EAF6-EBAE-4263-218DED1592A8}"/>
              </a:ext>
            </a:extLst>
          </p:cNvPr>
          <p:cNvSpPr/>
          <p:nvPr/>
        </p:nvSpPr>
        <p:spPr>
          <a:xfrm>
            <a:off x="1023994" y="2462156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/api/dashboard/insights  ·  POST /api/dashboard/reminders/trigger</a:t>
            </a:r>
            <a:endParaRPr lang="en-US" sz="120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B7DFAC00-D079-EDC3-660A-AE53B32C41C0}"/>
              </a:ext>
            </a:extLst>
          </p:cNvPr>
          <p:cNvSpPr/>
          <p:nvPr/>
        </p:nvSpPr>
        <p:spPr>
          <a:xfrm>
            <a:off x="914400" y="2845263"/>
            <a:ext cx="109728" cy="109728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7F7A8467-E328-3B4F-EB28-DBA6D05E69BD}"/>
              </a:ext>
            </a:extLst>
          </p:cNvPr>
          <p:cNvSpPr/>
          <p:nvPr/>
        </p:nvSpPr>
        <p:spPr>
          <a:xfrm>
            <a:off x="1007185" y="2755303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/api/chat/stream (SSE streaming)  ·  POST /api/chat (non-streaming)</a:t>
            </a:r>
            <a:endParaRPr lang="en-US" sz="12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18C96AEC-AC19-643E-19BD-F08A7C60B5E6}"/>
              </a:ext>
            </a:extLst>
          </p:cNvPr>
          <p:cNvSpPr/>
          <p:nvPr/>
        </p:nvSpPr>
        <p:spPr>
          <a:xfrm>
            <a:off x="914400" y="3141771"/>
            <a:ext cx="109728" cy="109728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0E637746-0E33-E91F-1784-F8C2ACCBA621}"/>
              </a:ext>
            </a:extLst>
          </p:cNvPr>
          <p:cNvSpPr/>
          <p:nvPr/>
        </p:nvSpPr>
        <p:spPr>
          <a:xfrm>
            <a:off x="1007185" y="304844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/api/health — 18 tests passing, in-memory SQLite per test, zero state bleed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97971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54864" cy="74980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latin typeface="Calibri"/>
                <a:ea typeface="Calibri"/>
                <a:cs typeface="Calibri"/>
              </a:rPr>
              <a:t>Strategic roadmap for platform scalability, security, and advanced AI capabilities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2724912" cy="1481328"/>
          </a:xfrm>
          <a:prstGeom prst="roundRect">
            <a:avLst>
              <a:gd name="adj" fmla="val 7407"/>
            </a:avLst>
          </a:prstGeom>
          <a:solidFill>
            <a:srgbClr val="0A1929"/>
          </a:solidFill>
          <a:ln w="19050">
            <a:solidFill>
              <a:srgbClr val="06B6D4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353312"/>
            <a:ext cx="640080" cy="219456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35331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02336" y="1627632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Scalability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2029968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PostgreSQL and Cloud database support to handle enterprise-scale subscriptions.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90672" y="1188720"/>
            <a:ext cx="2724912" cy="1481328"/>
          </a:xfrm>
          <a:prstGeom prst="roundRect">
            <a:avLst>
              <a:gd name="adj" fmla="val 7407"/>
            </a:avLst>
          </a:prstGeom>
          <a:solidFill>
            <a:srgbClr val="091A1A"/>
          </a:solidFill>
          <a:ln w="19050">
            <a:solidFill>
              <a:srgbClr val="0D9488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6976" y="1353312"/>
            <a:ext cx="640080" cy="219456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135331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36976" y="1627632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MCP 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36976" y="2029968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vendor API integrations and automated invoice parsing via specialized MCP servers.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25312" y="1188720"/>
            <a:ext cx="2724912" cy="1481328"/>
          </a:xfrm>
          <a:prstGeom prst="roundRect">
            <a:avLst>
              <a:gd name="adj" fmla="val 7407"/>
            </a:avLst>
          </a:prstGeom>
          <a:solidFill>
            <a:srgbClr val="091A14"/>
          </a:solidFill>
          <a:ln w="19050">
            <a:solidFill>
              <a:srgbClr val="10B981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353312"/>
            <a:ext cx="640080" cy="219456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135331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071616" y="1627632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Multi-Tenancy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71616" y="2029968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and organizational namespaces for secure team-level tracking.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816352"/>
            <a:ext cx="2724912" cy="1481328"/>
          </a:xfrm>
          <a:prstGeom prst="roundRect">
            <a:avLst>
              <a:gd name="adj" fmla="val 7407"/>
            </a:avLst>
          </a:prstGeom>
          <a:solidFill>
            <a:srgbClr val="130C2A"/>
          </a:solidFill>
          <a:ln w="19050">
            <a:solidFill>
              <a:srgbClr val="8B5CF6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2336" y="2980944"/>
            <a:ext cx="640080" cy="219456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98094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02336" y="3255264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" y="3657600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containerization, CI/CD deployment pipelines, and observability dashboards.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090672" y="2816352"/>
            <a:ext cx="2724912" cy="1481328"/>
          </a:xfrm>
          <a:prstGeom prst="roundRect">
            <a:avLst>
              <a:gd name="adj" fmla="val 7407"/>
            </a:avLst>
          </a:prstGeom>
          <a:solidFill>
            <a:srgbClr val="130C2A"/>
          </a:solidFill>
          <a:ln w="19050">
            <a:solidFill>
              <a:srgbClr val="8B5CF6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36976" y="2980944"/>
            <a:ext cx="640080" cy="219456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36976" y="298094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36976" y="3255264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Improvements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36976" y="3657600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persistent semantic memory, inline data citations, and enhanced document/file support.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25312" y="2816352"/>
            <a:ext cx="2724912" cy="1481328"/>
          </a:xfrm>
          <a:prstGeom prst="roundRect">
            <a:avLst>
              <a:gd name="adj" fmla="val 7407"/>
            </a:avLst>
          </a:prstGeom>
          <a:solidFill>
            <a:srgbClr val="091A14"/>
          </a:solidFill>
          <a:ln w="19050">
            <a:solidFill>
              <a:srgbClr val="10B981"/>
            </a:solidFill>
            <a:prstDash val="solid"/>
          </a:ln>
          <a:effectLst>
            <a:outerShdw blurRad="1524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2980944"/>
            <a:ext cx="640080" cy="219456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298094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071616" y="3255264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Insights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71616" y="3657600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anomaly detection and automated budget alerts for unexpected price hikes.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87768" y="2670048"/>
            <a:ext cx="0" cy="14630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0" y="10972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kern="0" spc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54864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0" y="2834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Subscription Management Dashboard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 |  LangGraph  |  Groq  |  MCP  |  ChromaDB  |  SQLAlchemy  |  JWT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github.com/SDM002/Tool-Subscription-Management-Dashboard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0202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1449</Words>
  <Application>Microsoft Office PowerPoint</Application>
  <PresentationFormat>On-screen Show (16:9)</PresentationFormat>
  <Paragraphs>324</Paragraphs>
  <Slides>17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DylanVTI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 Agentic AI Project</dc:title>
  <dc:subject>PptxGenJS Presentation</dc:subject>
  <dc:creator>Satyadeep Mohanta</dc:creator>
  <cp:lastModifiedBy>Pradeep Varadarajan</cp:lastModifiedBy>
  <cp:revision>1175</cp:revision>
  <dcterms:created xsi:type="dcterms:W3CDTF">2026-02-25T09:20:24Z</dcterms:created>
  <dcterms:modified xsi:type="dcterms:W3CDTF">2026-03-28T05:50:27Z</dcterms:modified>
</cp:coreProperties>
</file>